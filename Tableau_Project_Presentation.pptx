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members and evaluation panel. Welcome to our Final Year Computer Science &amp; Engineering Tableau Project Presentation titled 'Appendix Cancer Clinical Analytics and Predictive Visualization System'. I am Abhinav, presenting along with my team members under the guidance of our faculty guide. Today we will walk you through our end-to-end data pipeline, advanced Tableau calculations across 10 function categories, interactive dashboard design, and clinical insights derived from 260,000 patient records, followed by a live Tableau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introduce the domain of our project. Appendix cancer is one of the rarest yet most insidious gastrointestinal cancers. By analyzing 260,000 comprehensive patient records, our project harnesses Tableau's high-performance visual analytics to uncover hidden correlations between clinical biomarkers, diagnostic delay, and therapeutic efficacy.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core problem statement. The fundamental challenge in managing appendix cancer is diagnostic delay. Because early symptoms mimic everyday gastrointestinal issues, patients frequently suffer significant diagnostic delays. Our proposed solution addresses this gap by creating an interactive, high-speed Tableau visual decision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structured around five clear, measurable objectives: ingesting 260,000 records, engineering 63 calculated fields across all 10 Tableau function categories, conducting rigorous statistical EDA, designing an interactive Tableau dashboard, and deriving actionable clinical insights.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present the structural architecture of our dataset. In Tableau terms, we have bifurcated the schema into Categorical Dimensions and Quantitative Measures. Sourced from Kaggle, the dataset contains 260,000 rows across 25 original features and 63 engineered calculated fields.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details our data preprocessing and calculated field pipeline. Before visualizing in Tableau, the dataset underwent quality assurance. We then engineered 63 calculated fields covering all 10 categories required in modern Tableau enterprise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summarizes our Exploratory Data Analysis. As highlighted in the real trajectory plot on the right, survival drops steeply as diagnosis delay increases beyond 30 days. Furthermore, concurrent elevations in tumor markers and BMI multiply positive cancer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8, we explain our visualization choices as mandated by the presentation guidelines. We used maps for spatial patterns, grouped bars for demographics, clustered columns for multi-biomarker benchmarking, and horizontal sorted bars for treatment survival.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demonstrates our Tableau dashboard architecture. As recommended in Section 2 of the faculty guidelines, we avoided overcrowding. The layout follows a clear 3-tier visual hierarchy with responsive sidebar filters, tooltips, and dashboard cross-filter actions.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highlights the practical real-world significance of our findings: the 30-day early detection window, the biomarker triad prediction rate of 84.6%, and the survival superiority of combined surgical cytoreduction and targeted therapy.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concludes our presentation and outlines future directions: connecting our pipeline to real-time hospital EHR feeds, integrating live machine learning inference via TabPy, and establishing automated clinician alerting.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provides our formal citations and references, including the Kaggle dataset source, official Tableau calculation references, clinical oncology guidelines from ACS and WHO, and our MIT-WPU CSE department guidelines.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transition to the live Tableau demonstration as mandated in Section 2 of the faculty guidelines. We verify the packaged .twbx workbook, demonstrate dynamic cross-filtering by clicking geographic and demographic markers, test filter actions, and simulate a real-world clinical scenario.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slide, we affirm full compliance with the faculty evaluation rubric and technical requirements. Our packaged workbook (.twbx) is verified and backed up, all interactive filters are pre-tested, and our team is ready for questions.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914400" y="914400"/>
            <a:ext cx="137160"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822960"/>
            <a:ext cx="10058400" cy="2103120"/>
          </a:xfrm>
          <a:prstGeom prst="rect">
            <a:avLst/>
          </a:prstGeom>
          <a:noFill/>
        </p:spPr>
        <p:txBody>
          <a:bodyPr wrap="square">
            <a:spAutoFit/>
          </a:bodyPr>
          <a:lstStyle/>
          <a:p>
            <a:pPr>
              <a:spcAft>
                <a:spcPts val="800"/>
              </a:spcAft>
              <a:defRPr sz="1100" b="1">
                <a:solidFill>
                  <a:srgbClr val="0D9488"/>
                </a:solidFill>
              </a:defRPr>
            </a:pPr>
            <a:r>
              <a:t>FINAL YEAR B.TECH COMPUTER SCIENCE &amp; ENGINEERING • TABLEAU PROJECT</a:t>
            </a:r>
          </a:p>
          <a:p>
            <a:pPr>
              <a:spcAft>
                <a:spcPts val="1000"/>
              </a:spcAft>
              <a:defRPr sz="3200" b="1">
                <a:solidFill>
                  <a:srgbClr val="FFFFFF"/>
                </a:solidFill>
              </a:defRPr>
            </a:pPr>
            <a:r>
              <a:t>Appendix Cancer Clinical Analytics &amp;</a:t>
            </a:r>
            <a:br/>
            <a:r>
              <a:t>Predictive Visualization System</a:t>
            </a:r>
          </a:p>
          <a:p>
            <a:pPr>
              <a:defRPr sz="1300">
                <a:solidFill>
                  <a:srgbClr val="CBD5E1"/>
                </a:solidFill>
              </a:defRPr>
            </a:pPr>
            <a:r>
              <a:t>Large-Scale Clinical Decision Support: Ingestion of 260,000 Patient Records,</a:t>
            </a:r>
            <a:br/>
            <a:r>
              <a:t>63 Calculated Field Implementations Across 10 Function Categories &amp; Interactive Tableau Dashboard</a:t>
            </a:r>
          </a:p>
        </p:txBody>
      </p:sp>
      <p:sp>
        <p:nvSpPr>
          <p:cNvPr id="4" name="Rounded Rectangle 3"/>
          <p:cNvSpPr/>
          <p:nvPr/>
        </p:nvSpPr>
        <p:spPr>
          <a:xfrm>
            <a:off x="914400" y="3291840"/>
            <a:ext cx="3291840" cy="2468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spcAft>
                <a:spcPts val="800"/>
              </a:spcAft>
              <a:defRPr sz="1000" b="1">
                <a:solidFill>
                  <a:srgbClr val="0284C7"/>
                </a:solidFill>
              </a:defRPr>
            </a:pPr>
            <a:r>
              <a:t>STUDENT PARTICIPANTS</a:t>
            </a:r>
          </a:p>
          <a:p>
            <a:pPr>
              <a:defRPr sz="1100">
                <a:solidFill>
                  <a:srgbClr val="FFFFFF"/>
                </a:solidFill>
              </a:defRPr>
            </a:pPr>
            <a:r>
              <a:t>• Abhinav [Project Lead]</a:t>
            </a:r>
            <a:br/>
            <a:r>
              <a:t>  PRN: [Enter PRN / Roll No]</a:t>
            </a:r>
            <a:br/>
            <a:r>
              <a:t>• [Team Member 2 Name]</a:t>
            </a:r>
            <a:br/>
            <a:r>
              <a:t>  PRN: [Enter Roll No]</a:t>
            </a:r>
            <a:br/>
            <a:r>
              <a:t>• [Team Member 3 Name]</a:t>
            </a:r>
            <a:br/>
            <a:r>
              <a:t>  PRN: [Enter Roll No]</a:t>
            </a:r>
          </a:p>
        </p:txBody>
      </p:sp>
      <p:sp>
        <p:nvSpPr>
          <p:cNvPr id="5" name="Rounded Rectangle 4"/>
          <p:cNvSpPr/>
          <p:nvPr/>
        </p:nvSpPr>
        <p:spPr>
          <a:xfrm>
            <a:off x="4443984" y="3291840"/>
            <a:ext cx="3291840" cy="2468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spcAft>
                <a:spcPts val="800"/>
              </a:spcAft>
              <a:defRPr sz="1000" b="1">
                <a:solidFill>
                  <a:srgbClr val="0D9488"/>
                </a:solidFill>
              </a:defRPr>
            </a:pPr>
            <a:r>
              <a:t>ACADEMIC GUIDANCE &amp; CLASS</a:t>
            </a:r>
          </a:p>
          <a:p>
            <a:pPr>
              <a:defRPr sz="1100">
                <a:solidFill>
                  <a:srgbClr val="FFFFFF"/>
                </a:solidFill>
              </a:defRPr>
            </a:pPr>
            <a:r>
              <a:t>Faculty Guide:</a:t>
            </a:r>
            <a:br/>
            <a:r>
              <a:t>• [Prof. / Dr. Guide Name]</a:t>
            </a:r>
            <a:br/>
            <a:r>
              <a:t>  Designation: [Assistant Professor / Guide]</a:t>
            </a:r>
            <a:br/>
            <a:br/>
            <a:r>
              <a:t>Class &amp; Cohort:</a:t>
            </a:r>
            <a:br/>
            <a:r>
              <a:t>• Final Year B.Tech CSE</a:t>
            </a:r>
            <a:br/>
            <a:r>
              <a:t>• Academic Year: 2026–2027</a:t>
            </a:r>
          </a:p>
        </p:txBody>
      </p:sp>
      <p:sp>
        <p:nvSpPr>
          <p:cNvPr id="6" name="Rounded Rectangle 5"/>
          <p:cNvSpPr/>
          <p:nvPr/>
        </p:nvSpPr>
        <p:spPr>
          <a:xfrm>
            <a:off x="7982712" y="3291840"/>
            <a:ext cx="3291840" cy="2468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spcAft>
                <a:spcPts val="800"/>
              </a:spcAft>
              <a:defRPr sz="1000" b="1">
                <a:solidFill>
                  <a:srgbClr val="EAB308"/>
                </a:solidFill>
              </a:defRPr>
            </a:pPr>
            <a:r>
              <a:t>INSTITUTION &amp; PLATFORM</a:t>
            </a:r>
          </a:p>
          <a:p>
            <a:pPr>
              <a:defRPr sz="1100">
                <a:solidFill>
                  <a:srgbClr val="FFFFFF"/>
                </a:solidFill>
              </a:defRPr>
            </a:pPr>
            <a:r>
              <a:t>Department &amp; Institute:</a:t>
            </a:r>
            <a:br/>
            <a:r>
              <a:t>• Dept. of Computer Science &amp; Eng.</a:t>
            </a:r>
            <a:br/>
            <a:r>
              <a:t>• MIT World Peace University (MIT-WPU)</a:t>
            </a:r>
            <a:br/>
            <a:br/>
            <a:r>
              <a:t>Analytics Tooling:</a:t>
            </a:r>
            <a:br/>
            <a:r>
              <a:t>• Tableau Desktop 2024.x (.twbx)</a:t>
            </a:r>
            <a:br/>
            <a:r>
              <a:t>• Python 3.9 Data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Introduction: Clinical Domain &amp; Analytical Context</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2 / 14</a:t>
            </a:r>
          </a:p>
        </p:txBody>
      </p:sp>
      <p:sp>
        <p:nvSpPr>
          <p:cNvPr id="7" name="Rounded Rectangle 6"/>
          <p:cNvSpPr/>
          <p:nvPr/>
        </p:nvSpPr>
        <p:spPr>
          <a:xfrm>
            <a:off x="731520" y="1645920"/>
            <a:ext cx="3328416" cy="4389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2962656" cy="4059936"/>
          </a:xfrm>
          <a:prstGeom prst="rect">
            <a:avLst/>
          </a:prstGeom>
          <a:noFill/>
        </p:spPr>
        <p:txBody>
          <a:bodyPr wrap="square" lIns="0" tIns="0" rIns="0" bIns="0">
            <a:spAutoFit/>
          </a:bodyPr>
          <a:lstStyle/>
          <a:p>
            <a:pPr>
              <a:defRPr b="1" sz="1300">
                <a:solidFill>
                  <a:srgbClr val="0F172A"/>
                </a:solidFill>
              </a:defRPr>
            </a:pPr>
            <a:r>
              <a:t>Clinical Oncology Domain</a:t>
            </a:r>
          </a:p>
          <a:p>
            <a:pPr>
              <a:spcAft>
                <a:spcPts val="600"/>
              </a:spcAft>
              <a:defRPr sz="950">
                <a:solidFill>
                  <a:srgbClr val="475569"/>
                </a:solidFill>
              </a:defRPr>
            </a:pPr>
            <a:r>
              <a:t>Appendix Malignancies &amp; Epidemiology</a:t>
            </a:r>
          </a:p>
          <a:p>
            <a:pPr>
              <a:defRPr sz="1100">
                <a:solidFill>
                  <a:srgbClr val="0F172A"/>
                </a:solidFill>
              </a:defRPr>
            </a:pPr>
            <a:r>
              <a:t>• Rare Malignancy Profile:</a:t>
            </a:r>
            <a:br/>
            <a:r>
              <a:t>  Appendiceal neoplasms account for &lt;1% of all colorectal and intestinal cancers, often presenting asymptomatically.</a:t>
            </a:r>
            <a:br/>
            <a:br/>
            <a:r>
              <a:t>• Incidental Detection:</a:t>
            </a:r>
            <a:br/>
            <a:r>
              <a:t>  Over 50% of cases are diagnosed incidentally during routine appendectomies for suspected acute appendicitis.</a:t>
            </a:r>
            <a:br/>
            <a:br/>
            <a:r>
              <a:t>• Histopathological Diversity:</a:t>
            </a:r>
            <a:br/>
            <a:r>
              <a:t>  Encompasses neuroendocrine tumors (carcinoids), mucinous adenocarcinomas, and aggressive goblet cell carcinoids.</a:t>
            </a:r>
          </a:p>
        </p:txBody>
      </p:sp>
      <p:sp>
        <p:nvSpPr>
          <p:cNvPr id="9" name="Rounded Rectangle 8"/>
          <p:cNvSpPr/>
          <p:nvPr/>
        </p:nvSpPr>
        <p:spPr>
          <a:xfrm>
            <a:off x="4379976" y="1645920"/>
            <a:ext cx="3328416" cy="4389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10512"/>
            <a:ext cx="2962656" cy="4059936"/>
          </a:xfrm>
          <a:prstGeom prst="rect">
            <a:avLst/>
          </a:prstGeom>
          <a:noFill/>
        </p:spPr>
        <p:txBody>
          <a:bodyPr wrap="square" lIns="0" tIns="0" rIns="0" bIns="0">
            <a:spAutoFit/>
          </a:bodyPr>
          <a:lstStyle/>
          <a:p>
            <a:pPr>
              <a:defRPr b="1" sz="1300">
                <a:solidFill>
                  <a:srgbClr val="0F172A"/>
                </a:solidFill>
              </a:defRPr>
            </a:pPr>
            <a:r>
              <a:t>The Big Data Imperative</a:t>
            </a:r>
          </a:p>
          <a:p>
            <a:pPr>
              <a:spcAft>
                <a:spcPts val="600"/>
              </a:spcAft>
              <a:defRPr sz="950">
                <a:solidFill>
                  <a:srgbClr val="475569"/>
                </a:solidFill>
              </a:defRPr>
            </a:pPr>
            <a:r>
              <a:t>High-Dimensional Patient Cohorts</a:t>
            </a:r>
          </a:p>
          <a:p>
            <a:pPr>
              <a:defRPr sz="1100">
                <a:solidFill>
                  <a:srgbClr val="0F172A"/>
                </a:solidFill>
              </a:defRPr>
            </a:pPr>
            <a:r>
              <a:t>• Massive Cohort Scale:</a:t>
            </a:r>
            <a:br/>
            <a:r>
              <a:t>  Evaluating 260,000 multi-national patient records to identify statistically robust survival predictors.</a:t>
            </a:r>
            <a:br/>
            <a:br/>
            <a:r>
              <a:t>• Multifactorial Risk Nexus:</a:t>
            </a:r>
            <a:br/>
            <a:r>
              <a:t>  Intertwines physiological biomarkers (BMI, Blood Pressure, Cholesterol) with genetic markers and lifestyle factors.</a:t>
            </a:r>
            <a:br/>
            <a:br/>
            <a:r>
              <a:t>• Diagnostic Latency Gap:</a:t>
            </a:r>
            <a:br/>
            <a:r>
              <a:t>  Critical need to analyze how diagnosis delays (0 to 180+ days) impact long-term patient post-treatment survival.</a:t>
            </a:r>
          </a:p>
        </p:txBody>
      </p:sp>
      <p:sp>
        <p:nvSpPr>
          <p:cNvPr id="11" name="Rounded Rectangle 10"/>
          <p:cNvSpPr/>
          <p:nvPr/>
        </p:nvSpPr>
        <p:spPr>
          <a:xfrm>
            <a:off x="8028432" y="1645920"/>
            <a:ext cx="3328416" cy="4389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10512"/>
            <a:ext cx="2962656" cy="4059936"/>
          </a:xfrm>
          <a:prstGeom prst="rect">
            <a:avLst/>
          </a:prstGeom>
          <a:noFill/>
        </p:spPr>
        <p:txBody>
          <a:bodyPr wrap="square" lIns="0" tIns="0" rIns="0" bIns="0">
            <a:spAutoFit/>
          </a:bodyPr>
          <a:lstStyle/>
          <a:p>
            <a:pPr>
              <a:defRPr b="1" sz="1300">
                <a:solidFill>
                  <a:srgbClr val="0F172A"/>
                </a:solidFill>
              </a:defRPr>
            </a:pPr>
            <a:r>
              <a:t>Tableau Visual Analytics</a:t>
            </a:r>
          </a:p>
          <a:p>
            <a:pPr>
              <a:spcAft>
                <a:spcPts val="600"/>
              </a:spcAft>
              <a:defRPr sz="950">
                <a:solidFill>
                  <a:srgbClr val="475569"/>
                </a:solidFill>
              </a:defRPr>
            </a:pPr>
            <a:r>
              <a:t>Transforming Data into Actionable Care</a:t>
            </a:r>
          </a:p>
          <a:p>
            <a:pPr>
              <a:defRPr sz="1100">
                <a:solidFill>
                  <a:srgbClr val="0F172A"/>
                </a:solidFill>
              </a:defRPr>
            </a:pPr>
            <a:r>
              <a:t>• Cognitive Visual Synthesis:</a:t>
            </a:r>
            <a:br/>
            <a:r>
              <a:t>  Translates 88 tabular parameters into intuitive geospatial maps, cohort distributions, and survival trendlines.</a:t>
            </a:r>
            <a:br/>
            <a:br/>
            <a:r>
              <a:t>• Real-Time Interactive Exploration:</a:t>
            </a:r>
            <a:br/>
            <a:r>
              <a:t>  Empowers oncologists to dynamically filter by Age, Country, Gender, and Risk Category via Tableau actions.</a:t>
            </a:r>
            <a:br/>
            <a:br/>
            <a:r>
              <a:t>• Evidence-Based Triage:</a:t>
            </a:r>
            <a:br/>
            <a:r>
              <a:t>  Bridges complex medical machine learning with visual decision-support systems for clinical frontline staff.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Problem Statement: Challenges in Appendiceal Cancer Management</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3 / 14</a:t>
            </a:r>
          </a:p>
        </p:txBody>
      </p:sp>
      <p:sp>
        <p:nvSpPr>
          <p:cNvPr id="7" name="Rounded Rectangle 6"/>
          <p:cNvSpPr/>
          <p:nvPr/>
        </p:nvSpPr>
        <p:spPr>
          <a:xfrm>
            <a:off x="731520" y="1554480"/>
            <a:ext cx="10728655" cy="10972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100" b="1">
                <a:solidFill>
                  <a:srgbClr val="E11D48"/>
                </a:solidFill>
              </a:defRPr>
            </a:pPr>
            <a:r>
              <a:t>CORE PROBLEM STATEMENT</a:t>
            </a:r>
          </a:p>
          <a:p>
            <a:pPr>
              <a:defRPr sz="1250" b="1">
                <a:solidFill>
                  <a:srgbClr val="0F172A"/>
                </a:solidFill>
              </a:defRPr>
            </a:pPr>
            <a:r>
              <a:t>Due to non-specific symptomatic presentation, high diagnostic latency, and heterogeneous biomarker expressions, healthcare providers lack unified visual analytics tools to identify high-risk patient segments, evaluate treatment efficacies, and forecast survival trajectories across large-scale epidemiological populations.</a:t>
            </a:r>
          </a:p>
        </p:txBody>
      </p:sp>
      <p:sp>
        <p:nvSpPr>
          <p:cNvPr id="8" name="Rounded Rectangle 7"/>
          <p:cNvSpPr/>
          <p:nvPr/>
        </p:nvSpPr>
        <p:spPr>
          <a:xfrm>
            <a:off x="731520" y="2834640"/>
            <a:ext cx="3328416" cy="3291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99232"/>
            <a:ext cx="2962656" cy="2962656"/>
          </a:xfrm>
          <a:prstGeom prst="rect">
            <a:avLst/>
          </a:prstGeom>
          <a:noFill/>
        </p:spPr>
        <p:txBody>
          <a:bodyPr wrap="square" lIns="0" tIns="0" rIns="0" bIns="0">
            <a:spAutoFit/>
          </a:bodyPr>
          <a:lstStyle/>
          <a:p>
            <a:pPr>
              <a:defRPr b="1" sz="1300">
                <a:solidFill>
                  <a:srgbClr val="0F172A"/>
                </a:solidFill>
              </a:defRPr>
            </a:pPr>
            <a:r>
              <a:t>1. Diagnostic Delay &amp; Misdiagnosis</a:t>
            </a:r>
          </a:p>
          <a:p>
            <a:pPr>
              <a:spcAft>
                <a:spcPts val="600"/>
              </a:spcAft>
              <a:defRPr sz="950">
                <a:solidFill>
                  <a:srgbClr val="475569"/>
                </a:solidFill>
              </a:defRPr>
            </a:pPr>
            <a:r>
              <a:t>Mimicking Benign Appendicitis</a:t>
            </a:r>
          </a:p>
          <a:p>
            <a:pPr>
              <a:defRPr sz="1050">
                <a:solidFill>
                  <a:srgbClr val="0F172A"/>
                </a:solidFill>
              </a:defRPr>
            </a:pPr>
            <a:r>
              <a:t>• Symptoms like abdominal pain and nausea overlap heavily with common appendicitis.</a:t>
            </a:r>
            <a:br/>
            <a:r>
              <a:t>• Significant diagnostic lag (averaging 40+ days) leads to advanced stage discovery.</a:t>
            </a:r>
            <a:br/>
            <a:r>
              <a:t>• Lack of automated risk stratification tools in triage emergency settings.</a:t>
            </a:r>
          </a:p>
        </p:txBody>
      </p:sp>
      <p:sp>
        <p:nvSpPr>
          <p:cNvPr id="10" name="Rounded Rectangle 9"/>
          <p:cNvSpPr/>
          <p:nvPr/>
        </p:nvSpPr>
        <p:spPr>
          <a:xfrm>
            <a:off x="4379976" y="2834640"/>
            <a:ext cx="3328416" cy="3291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2999232"/>
            <a:ext cx="2962656" cy="2962656"/>
          </a:xfrm>
          <a:prstGeom prst="rect">
            <a:avLst/>
          </a:prstGeom>
          <a:noFill/>
        </p:spPr>
        <p:txBody>
          <a:bodyPr wrap="square" lIns="0" tIns="0" rIns="0" bIns="0">
            <a:spAutoFit/>
          </a:bodyPr>
          <a:lstStyle/>
          <a:p>
            <a:pPr>
              <a:defRPr b="1" sz="1300">
                <a:solidFill>
                  <a:srgbClr val="0F172A"/>
                </a:solidFill>
              </a:defRPr>
            </a:pPr>
            <a:r>
              <a:t>2. High-Dimensional Data Fragmentation</a:t>
            </a:r>
          </a:p>
          <a:p>
            <a:pPr>
              <a:spcAft>
                <a:spcPts val="600"/>
              </a:spcAft>
              <a:defRPr sz="950">
                <a:solidFill>
                  <a:srgbClr val="475569"/>
                </a:solidFill>
              </a:defRPr>
            </a:pPr>
            <a:r>
              <a:t>Scattered Clinical Biomarkers</a:t>
            </a:r>
          </a:p>
          <a:p>
            <a:pPr>
              <a:defRPr sz="1050">
                <a:solidFill>
                  <a:srgbClr val="0F172A"/>
                </a:solidFill>
              </a:defRPr>
            </a:pPr>
            <a:r>
              <a:t>• Patient records contain 25+ disjoint metrics (Tumor Markers, WBC, Platelets, BMI, Genetics).</a:t>
            </a:r>
            <a:br/>
            <a:r>
              <a:t>• Standard spreadsheets fail to compute running sums, percentile quantiles, or geospatial clusters.</a:t>
            </a:r>
            <a:br/>
            <a:r>
              <a:t>• Manual analysis creates severe cognitive overload for medical teams.</a:t>
            </a:r>
          </a:p>
        </p:txBody>
      </p:sp>
      <p:sp>
        <p:nvSpPr>
          <p:cNvPr id="12" name="Rounded Rectangle 11"/>
          <p:cNvSpPr/>
          <p:nvPr/>
        </p:nvSpPr>
        <p:spPr>
          <a:xfrm>
            <a:off x="8028432" y="2834640"/>
            <a:ext cx="3328416" cy="3291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2999232"/>
            <a:ext cx="2962656" cy="2962656"/>
          </a:xfrm>
          <a:prstGeom prst="rect">
            <a:avLst/>
          </a:prstGeom>
          <a:noFill/>
        </p:spPr>
        <p:txBody>
          <a:bodyPr wrap="square" lIns="0" tIns="0" rIns="0" bIns="0">
            <a:spAutoFit/>
          </a:bodyPr>
          <a:lstStyle/>
          <a:p>
            <a:pPr>
              <a:defRPr b="1" sz="1300">
                <a:solidFill>
                  <a:srgbClr val="0F172A"/>
                </a:solidFill>
              </a:defRPr>
            </a:pPr>
            <a:r>
              <a:t>3. Treatment Benchmark Deficit</a:t>
            </a:r>
          </a:p>
          <a:p>
            <a:pPr>
              <a:spcAft>
                <a:spcPts val="600"/>
              </a:spcAft>
              <a:defRPr sz="950">
                <a:solidFill>
                  <a:srgbClr val="475569"/>
                </a:solidFill>
              </a:defRPr>
            </a:pPr>
            <a:r>
              <a:t>Comparing Diverse Modalities</a:t>
            </a:r>
          </a:p>
          <a:p>
            <a:pPr>
              <a:defRPr sz="1050">
                <a:solidFill>
                  <a:srgbClr val="0F172A"/>
                </a:solidFill>
              </a:defRPr>
            </a:pPr>
            <a:r>
              <a:t>• Chemotherapy, Surgical Resection, and Targeted Therapies show differing survival returns across age brackets.</a:t>
            </a:r>
            <a:br/>
            <a:r>
              <a:t>• Absence of dynamic interactive dashboards for multi-parameter clinical benchmarking.</a:t>
            </a:r>
            <a:br/>
            <a:r>
              <a:t>• Urgent need for an integrated visual intelligence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Project Objectives: Key Technical &amp; Analytical Goals</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4 / 14</a:t>
            </a:r>
          </a:p>
        </p:txBody>
      </p:sp>
      <p:sp>
        <p:nvSpPr>
          <p:cNvPr id="7" name="Rounded Rectangle 6"/>
          <p:cNvSpPr/>
          <p:nvPr/>
        </p:nvSpPr>
        <p:spPr>
          <a:xfrm>
            <a:off x="731520" y="1645920"/>
            <a:ext cx="10728655" cy="84124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783080"/>
            <a:ext cx="365760" cy="5669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01</a:t>
            </a:r>
          </a:p>
        </p:txBody>
      </p:sp>
      <p:sp>
        <p:nvSpPr>
          <p:cNvPr id="9" name="TextBox 8"/>
          <p:cNvSpPr txBox="1"/>
          <p:nvPr/>
        </p:nvSpPr>
        <p:spPr>
          <a:xfrm>
            <a:off x="1371600" y="1737360"/>
            <a:ext cx="9875520" cy="658368"/>
          </a:xfrm>
          <a:prstGeom prst="rect">
            <a:avLst/>
          </a:prstGeom>
          <a:noFill/>
        </p:spPr>
        <p:txBody>
          <a:bodyPr wrap="square" lIns="0" tIns="0" rIns="0" bIns="0">
            <a:spAutoFit/>
          </a:bodyPr>
          <a:lstStyle/>
          <a:p>
            <a:pPr>
              <a:defRPr sz="1250" b="1">
                <a:solidFill>
                  <a:srgbClr val="0F172A"/>
                </a:solidFill>
              </a:defRPr>
            </a:pPr>
            <a:r>
              <a:t>Objective 1: Large-Scale Clinical Ingestion &amp; ETL</a:t>
            </a:r>
          </a:p>
          <a:p>
            <a:pPr>
              <a:defRPr sz="1000">
                <a:solidFill>
                  <a:srgbClr val="475569"/>
                </a:solidFill>
              </a:defRPr>
            </a:pPr>
            <a:r>
              <a:t>Ingest and validate the Kaggle Appendix Cancer Prediction Dataset comprising 260,000 patient records across 25 physiological, demographic, and outcome features, ensuring zero null inconsistencies.</a:t>
            </a:r>
          </a:p>
        </p:txBody>
      </p:sp>
      <p:sp>
        <p:nvSpPr>
          <p:cNvPr id="10" name="Rounded Rectangle 9"/>
          <p:cNvSpPr/>
          <p:nvPr/>
        </p:nvSpPr>
        <p:spPr>
          <a:xfrm>
            <a:off x="731520" y="2596896"/>
            <a:ext cx="10728655" cy="841248"/>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734056"/>
            <a:ext cx="365760" cy="56692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02</a:t>
            </a:r>
          </a:p>
        </p:txBody>
      </p:sp>
      <p:sp>
        <p:nvSpPr>
          <p:cNvPr id="12" name="TextBox 11"/>
          <p:cNvSpPr txBox="1"/>
          <p:nvPr/>
        </p:nvSpPr>
        <p:spPr>
          <a:xfrm>
            <a:off x="1371600" y="2688336"/>
            <a:ext cx="9875520" cy="658368"/>
          </a:xfrm>
          <a:prstGeom prst="rect">
            <a:avLst/>
          </a:prstGeom>
          <a:noFill/>
        </p:spPr>
        <p:txBody>
          <a:bodyPr wrap="square" lIns="0" tIns="0" rIns="0" bIns="0">
            <a:spAutoFit/>
          </a:bodyPr>
          <a:lstStyle/>
          <a:p>
            <a:pPr>
              <a:defRPr sz="1250" b="1">
                <a:solidFill>
                  <a:srgbClr val="0F172A"/>
                </a:solidFill>
              </a:defRPr>
            </a:pPr>
            <a:r>
              <a:t>Objective 2: Comprehensive Calculated Field Engineering</a:t>
            </a:r>
          </a:p>
          <a:p>
            <a:pPr>
              <a:defRPr sz="1000">
                <a:solidFill>
                  <a:srgbClr val="475569"/>
                </a:solidFill>
              </a:defRPr>
            </a:pPr>
            <a:r>
              <a:t>Implement all 10 major categories of Tableau / SQL functions (63 custom calculated fields) including Mathematical, String, Date, Aggregation, Logical, Window/Table, User Session, Spatial, and Predictive Modeling.</a:t>
            </a:r>
          </a:p>
        </p:txBody>
      </p:sp>
      <p:sp>
        <p:nvSpPr>
          <p:cNvPr id="13" name="Rounded Rectangle 12"/>
          <p:cNvSpPr/>
          <p:nvPr/>
        </p:nvSpPr>
        <p:spPr>
          <a:xfrm>
            <a:off x="731520" y="3547872"/>
            <a:ext cx="10728655" cy="84124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3685032"/>
            <a:ext cx="365760" cy="5669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03</a:t>
            </a:r>
          </a:p>
        </p:txBody>
      </p:sp>
      <p:sp>
        <p:nvSpPr>
          <p:cNvPr id="15" name="TextBox 14"/>
          <p:cNvSpPr txBox="1"/>
          <p:nvPr/>
        </p:nvSpPr>
        <p:spPr>
          <a:xfrm>
            <a:off x="1371600" y="3639312"/>
            <a:ext cx="9875520" cy="658368"/>
          </a:xfrm>
          <a:prstGeom prst="rect">
            <a:avLst/>
          </a:prstGeom>
          <a:noFill/>
        </p:spPr>
        <p:txBody>
          <a:bodyPr wrap="square" lIns="0" tIns="0" rIns="0" bIns="0">
            <a:spAutoFit/>
          </a:bodyPr>
          <a:lstStyle/>
          <a:p>
            <a:pPr>
              <a:defRPr sz="1250" b="1">
                <a:solidFill>
                  <a:srgbClr val="0F172A"/>
                </a:solidFill>
              </a:defRPr>
            </a:pPr>
            <a:r>
              <a:t>Objective 3: Rigorous Exploratory Data Analysis (EDA)</a:t>
            </a:r>
          </a:p>
          <a:p>
            <a:pPr>
              <a:defRPr sz="1000">
                <a:solidFill>
                  <a:srgbClr val="475569"/>
                </a:solidFill>
              </a:defRPr>
            </a:pPr>
            <a:r>
              <a:t>Execute multi-dimensional statistical evaluations to uncover underlying risk factors, correlation between diagnostic delay and patient mortality, and biomarker distribution deviations.</a:t>
            </a:r>
          </a:p>
        </p:txBody>
      </p:sp>
      <p:sp>
        <p:nvSpPr>
          <p:cNvPr id="16" name="Rounded Rectangle 15"/>
          <p:cNvSpPr/>
          <p:nvPr/>
        </p:nvSpPr>
        <p:spPr>
          <a:xfrm>
            <a:off x="731520" y="4498848"/>
            <a:ext cx="10728655" cy="841248"/>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4636008"/>
            <a:ext cx="365760" cy="56692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04</a:t>
            </a:r>
          </a:p>
        </p:txBody>
      </p:sp>
      <p:sp>
        <p:nvSpPr>
          <p:cNvPr id="18" name="TextBox 17"/>
          <p:cNvSpPr txBox="1"/>
          <p:nvPr/>
        </p:nvSpPr>
        <p:spPr>
          <a:xfrm>
            <a:off x="1371600" y="4590288"/>
            <a:ext cx="9875520" cy="658368"/>
          </a:xfrm>
          <a:prstGeom prst="rect">
            <a:avLst/>
          </a:prstGeom>
          <a:noFill/>
        </p:spPr>
        <p:txBody>
          <a:bodyPr wrap="square" lIns="0" tIns="0" rIns="0" bIns="0">
            <a:spAutoFit/>
          </a:bodyPr>
          <a:lstStyle/>
          <a:p>
            <a:pPr>
              <a:defRPr sz="1250" b="1">
                <a:solidFill>
                  <a:srgbClr val="0F172A"/>
                </a:solidFill>
              </a:defRPr>
            </a:pPr>
            <a:r>
              <a:t>Objective 4: Interactive Clinical Tableau Dashboard Design</a:t>
            </a:r>
          </a:p>
          <a:p>
            <a:pPr>
              <a:defRPr sz="1000">
                <a:solidFill>
                  <a:srgbClr val="475569"/>
                </a:solidFill>
              </a:defRPr>
            </a:pPr>
            <a:r>
              <a:t>Design an intuitive, production-grade Tableau dashboard featuring global geographic mapping, dynamic cohort filtering (Country, Gender, Age Group, Risk Level), and synchronized KPI summary metrics.</a:t>
            </a:r>
          </a:p>
        </p:txBody>
      </p:sp>
      <p:sp>
        <p:nvSpPr>
          <p:cNvPr id="19" name="Rounded Rectangle 18"/>
          <p:cNvSpPr/>
          <p:nvPr/>
        </p:nvSpPr>
        <p:spPr>
          <a:xfrm>
            <a:off x="731520" y="5449824"/>
            <a:ext cx="10728655" cy="841248"/>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 y="5586984"/>
            <a:ext cx="365760" cy="566928"/>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05</a:t>
            </a:r>
          </a:p>
        </p:txBody>
      </p:sp>
      <p:sp>
        <p:nvSpPr>
          <p:cNvPr id="21" name="TextBox 20"/>
          <p:cNvSpPr txBox="1"/>
          <p:nvPr/>
        </p:nvSpPr>
        <p:spPr>
          <a:xfrm>
            <a:off x="1371600" y="5541264"/>
            <a:ext cx="9875520" cy="658368"/>
          </a:xfrm>
          <a:prstGeom prst="rect">
            <a:avLst/>
          </a:prstGeom>
          <a:noFill/>
        </p:spPr>
        <p:txBody>
          <a:bodyPr wrap="square" lIns="0" tIns="0" rIns="0" bIns="0">
            <a:spAutoFit/>
          </a:bodyPr>
          <a:lstStyle/>
          <a:p>
            <a:pPr>
              <a:defRPr sz="1250" b="1">
                <a:solidFill>
                  <a:srgbClr val="0F172A"/>
                </a:solidFill>
              </a:defRPr>
            </a:pPr>
            <a:r>
              <a:t>Objective 5: Survival Outcome &amp; Treatment Efficacy Modeling</a:t>
            </a:r>
          </a:p>
          <a:p>
            <a:pPr>
              <a:defRPr sz="1000">
                <a:solidFill>
                  <a:srgbClr val="475569"/>
                </a:solidFill>
              </a:defRPr>
            </a:pPr>
            <a:r>
              <a:t>Benchmark therapeutic outcomes across treatment modalities (Surgery, Chemotherapy, Targeted Therapy) and extract quantifiable clinical insights to guide proactive healthcare decision-making.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Dataset Description: Architecture, Dimensions &amp; Measures</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5 / 14</a:t>
            </a:r>
          </a:p>
        </p:txBody>
      </p:sp>
      <p:sp>
        <p:nvSpPr>
          <p:cNvPr id="7" name="Rounded Rectangle 6"/>
          <p:cNvSpPr/>
          <p:nvPr/>
        </p:nvSpPr>
        <p:spPr>
          <a:xfrm>
            <a:off x="731520" y="1645920"/>
            <a:ext cx="2468880" cy="1005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0F172A"/>
                </a:solidFill>
              </a:defRPr>
            </a:pPr>
            <a:r>
              <a:t>260,000</a:t>
            </a:r>
          </a:p>
          <a:p>
            <a:pPr algn="ctr">
              <a:defRPr sz="900" b="1">
                <a:solidFill>
                  <a:srgbClr val="475569"/>
                </a:solidFill>
              </a:defRPr>
            </a:pPr>
            <a:r>
              <a:t>TOTAL PATIENT RECORDS</a:t>
            </a:r>
          </a:p>
        </p:txBody>
      </p:sp>
      <p:sp>
        <p:nvSpPr>
          <p:cNvPr id="8" name="Rounded Rectangle 7"/>
          <p:cNvSpPr/>
          <p:nvPr/>
        </p:nvSpPr>
        <p:spPr>
          <a:xfrm>
            <a:off x="3483864" y="1645920"/>
            <a:ext cx="2468880" cy="1005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0284C7"/>
                </a:solidFill>
              </a:defRPr>
            </a:pPr>
            <a:r>
              <a:t>25 Original</a:t>
            </a:r>
          </a:p>
          <a:p>
            <a:pPr algn="ctr">
              <a:defRPr sz="900" b="1">
                <a:solidFill>
                  <a:srgbClr val="475569"/>
                </a:solidFill>
              </a:defRPr>
            </a:pPr>
            <a:r>
              <a:t>CLINICAL ATTRIBUTES</a:t>
            </a:r>
          </a:p>
        </p:txBody>
      </p:sp>
      <p:sp>
        <p:nvSpPr>
          <p:cNvPr id="9" name="Rounded Rectangle 8"/>
          <p:cNvSpPr/>
          <p:nvPr/>
        </p:nvSpPr>
        <p:spPr>
          <a:xfrm>
            <a:off x="6236208" y="1645920"/>
            <a:ext cx="2468880" cy="1005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0D9488"/>
                </a:solidFill>
              </a:defRPr>
            </a:pPr>
            <a:r>
              <a:t>63 Added</a:t>
            </a:r>
          </a:p>
          <a:p>
            <a:pPr algn="ctr">
              <a:defRPr sz="900" b="1">
                <a:solidFill>
                  <a:srgbClr val="475569"/>
                </a:solidFill>
              </a:defRPr>
            </a:pPr>
            <a:r>
              <a:t>CALCULATED FIELDS</a:t>
            </a:r>
          </a:p>
        </p:txBody>
      </p:sp>
      <p:sp>
        <p:nvSpPr>
          <p:cNvPr id="10" name="Rounded Rectangle 9"/>
          <p:cNvSpPr/>
          <p:nvPr/>
        </p:nvSpPr>
        <p:spPr>
          <a:xfrm>
            <a:off x="8988552" y="1645920"/>
            <a:ext cx="2468880" cy="1005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E11D48"/>
                </a:solidFill>
              </a:defRPr>
            </a:pPr>
            <a:r>
              <a:t>88 Total</a:t>
            </a:r>
          </a:p>
          <a:p>
            <a:pPr algn="ctr">
              <a:defRPr sz="900" b="1">
                <a:solidFill>
                  <a:srgbClr val="475569"/>
                </a:solidFill>
              </a:defRPr>
            </a:pPr>
            <a:r>
              <a:t>ANALYZED SCHEMA COLUMNS</a:t>
            </a:r>
          </a:p>
        </p:txBody>
      </p:sp>
      <p:sp>
        <p:nvSpPr>
          <p:cNvPr id="11" name="Rounded Rectangle 10"/>
          <p:cNvSpPr/>
          <p:nvPr/>
        </p:nvSpPr>
        <p:spPr>
          <a:xfrm>
            <a:off x="731520" y="2880360"/>
            <a:ext cx="5212080" cy="3291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44952"/>
            <a:ext cx="4846320" cy="2962656"/>
          </a:xfrm>
          <a:prstGeom prst="rect">
            <a:avLst/>
          </a:prstGeom>
          <a:noFill/>
        </p:spPr>
        <p:txBody>
          <a:bodyPr wrap="square" lIns="0" tIns="0" rIns="0" bIns="0">
            <a:spAutoFit/>
          </a:bodyPr>
          <a:lstStyle/>
          <a:p>
            <a:pPr>
              <a:defRPr b="1" sz="1300">
                <a:solidFill>
                  <a:srgbClr val="0F172A"/>
                </a:solidFill>
              </a:defRPr>
            </a:pPr>
            <a:r>
              <a:t>Key Categorical Dimensions (Independent &amp; Grouping)</a:t>
            </a:r>
          </a:p>
          <a:p>
            <a:pPr>
              <a:spcAft>
                <a:spcPts val="600"/>
              </a:spcAft>
              <a:defRPr sz="950">
                <a:solidFill>
                  <a:srgbClr val="475569"/>
                </a:solidFill>
              </a:defRPr>
            </a:pPr>
            <a:r>
              <a:t>Attributes used for cohort segmentation, slicing &amp; filters</a:t>
            </a:r>
          </a:p>
          <a:p>
            <a:pPr>
              <a:defRPr sz="1000">
                <a:solidFill>
                  <a:srgbClr val="0F172A"/>
                </a:solidFill>
              </a:defRPr>
            </a:pPr>
            <a:r>
              <a:t>• Patient Identifier: Patient_ID (Unique string token PID_XXXXX)</a:t>
            </a:r>
            <a:br/>
            <a:r>
              <a:t>• Geographic Dimension: Country (Global multinational patient distribution)</a:t>
            </a:r>
            <a:br/>
            <a:r>
              <a:t>• Demographic Dimensions: Gender (Male / Female), IF_Age_Group (Youth / Adult / Senior)</a:t>
            </a:r>
            <a:br/>
            <a:r>
              <a:t>• Lifestyle Factors: Smoking_Status, Alcohol_Consumption, Physical_Activity_Level, Diet_Type</a:t>
            </a:r>
            <a:br/>
            <a:r>
              <a:t>• Clinical History: Family_History_Cancer, Genetic_Mutations, Chronic_Diseases, Previous_Cancers</a:t>
            </a:r>
            <a:br/>
            <a:r>
              <a:t>• Treatment Modality: Treatment_Type (Chemotherapy, Surgery, Radiation, Targeted, Immunotherapy)</a:t>
            </a:r>
            <a:br/>
            <a:r>
              <a:t>• Target Classification: Appendix_Cancer_Prediction (Binary: 'Yes' / 'No')</a:t>
            </a:r>
          </a:p>
        </p:txBody>
      </p:sp>
      <p:sp>
        <p:nvSpPr>
          <p:cNvPr id="13" name="Rounded Rectangle 12"/>
          <p:cNvSpPr/>
          <p:nvPr/>
        </p:nvSpPr>
        <p:spPr>
          <a:xfrm>
            <a:off x="6248095" y="2880360"/>
            <a:ext cx="5212080" cy="3291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0975" y="3044952"/>
            <a:ext cx="4846320" cy="2962656"/>
          </a:xfrm>
          <a:prstGeom prst="rect">
            <a:avLst/>
          </a:prstGeom>
          <a:noFill/>
        </p:spPr>
        <p:txBody>
          <a:bodyPr wrap="square" lIns="0" tIns="0" rIns="0" bIns="0">
            <a:spAutoFit/>
          </a:bodyPr>
          <a:lstStyle/>
          <a:p>
            <a:pPr>
              <a:defRPr b="1" sz="1300">
                <a:solidFill>
                  <a:srgbClr val="0F172A"/>
                </a:solidFill>
              </a:defRPr>
            </a:pPr>
            <a:r>
              <a:t>Key Quantitative Measures (Continuous &amp; Discrete)</a:t>
            </a:r>
          </a:p>
          <a:p>
            <a:pPr>
              <a:spcAft>
                <a:spcPts val="600"/>
              </a:spcAft>
              <a:defRPr sz="950">
                <a:solidFill>
                  <a:srgbClr val="475569"/>
                </a:solidFill>
              </a:defRPr>
            </a:pPr>
            <a:r>
              <a:t>Attributes used for aggregation, statistical thresholds &amp; KPIs</a:t>
            </a:r>
          </a:p>
          <a:p>
            <a:pPr>
              <a:defRPr sz="1000">
                <a:solidFill>
                  <a:srgbClr val="0F172A"/>
                </a:solidFill>
              </a:defRPr>
            </a:pPr>
            <a:r>
              <a:t>• Vital Measures: Age (Years: 18–85), BMI (Body Mass Index kg/m²), Blood_Pressure (mmHg)</a:t>
            </a:r>
            <a:br/>
            <a:r>
              <a:t>• Hematological Biomarkers: Cholesterol_Level (mg/dL), White_Blood_Cell_Count (cells/mcL),</a:t>
            </a:r>
            <a:br/>
            <a:r>
              <a:t>  Red_Blood_Cell_Count (million/mcL), Platelet_Count (mcL)</a:t>
            </a:r>
            <a:br/>
            <a:r>
              <a:t>• Oncology Biomarkers: Tumor_Markers (Continuous clinical concentration score)</a:t>
            </a:r>
            <a:br/>
            <a:r>
              <a:t>• Symptomatic &amp; Temporal: Symptom_Severity (Scale 1–10), Diagnosis_Delay_Days (0–180 days)</a:t>
            </a:r>
            <a:br/>
            <a:r>
              <a:t>• Prognostic Outcomes: Survival_Years_After_Diagnosis (0.1–15.0 years post-intervention)</a:t>
            </a:r>
            <a:br/>
            <a:r>
              <a:t>• Advanced Calculated Fields: MODEL_QUANTILE_Survival, FORECAST_Survival_Trend, RANK_Survival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Data Preprocessing &amp; Calculated Field Engineering Pipeline</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6 / 14</a:t>
            </a:r>
          </a:p>
        </p:txBody>
      </p:sp>
      <p:sp>
        <p:nvSpPr>
          <p:cNvPr id="7" name="Rounded Rectangle 6"/>
          <p:cNvSpPr/>
          <p:nvPr/>
        </p:nvSpPr>
        <p:spPr>
          <a:xfrm>
            <a:off x="731520" y="1645920"/>
            <a:ext cx="24688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2103120" cy="4105656"/>
          </a:xfrm>
          <a:prstGeom prst="rect">
            <a:avLst/>
          </a:prstGeom>
          <a:noFill/>
        </p:spPr>
        <p:txBody>
          <a:bodyPr wrap="square" lIns="0" tIns="0" rIns="0" bIns="0">
            <a:spAutoFit/>
          </a:bodyPr>
          <a:lstStyle/>
          <a:p>
            <a:pPr>
              <a:defRPr b="1" sz="1300">
                <a:solidFill>
                  <a:srgbClr val="0F172A"/>
                </a:solidFill>
              </a:defRPr>
            </a:pPr>
            <a:r>
              <a:t>Stage 1: Cleaning &amp; Ingestion</a:t>
            </a:r>
          </a:p>
          <a:p>
            <a:pPr>
              <a:spcAft>
                <a:spcPts val="600"/>
              </a:spcAft>
              <a:defRPr sz="950">
                <a:solidFill>
                  <a:srgbClr val="475569"/>
                </a:solidFill>
              </a:defRPr>
            </a:pPr>
            <a:r>
              <a:t>Quality Verification</a:t>
            </a:r>
          </a:p>
          <a:p>
            <a:pPr>
              <a:spcAft>
                <a:spcPts val="400"/>
              </a:spcAft>
              <a:defRPr sz="950">
                <a:solidFill>
                  <a:srgbClr val="0F172A"/>
                </a:solidFill>
              </a:defRPr>
            </a:pPr>
            <a:r>
              <a:t>• Null &amp; Nan Verification: Validated 260,000 rows across 25 fields for zero missing data.</a:t>
            </a:r>
          </a:p>
          <a:p>
            <a:pPr>
              <a:spcAft>
                <a:spcPts val="400"/>
              </a:spcAft>
              <a:defRPr sz="950">
                <a:solidFill>
                  <a:srgbClr val="0F172A"/>
                </a:solidFill>
              </a:defRPr>
            </a:pPr>
            <a:r>
              <a:t>• Primary Key Validation: Enforced uniqueness on Patient_ID strings.</a:t>
            </a:r>
          </a:p>
          <a:p>
            <a:pPr>
              <a:spcAft>
                <a:spcPts val="400"/>
              </a:spcAft>
              <a:defRPr sz="950">
                <a:solidFill>
                  <a:srgbClr val="0F172A"/>
                </a:solidFill>
              </a:defRPr>
            </a:pPr>
            <a:r>
              <a:t>• Outlier Audit: Verified physiological limits on BMI (15-50) and BP (80-190).</a:t>
            </a:r>
          </a:p>
          <a:p>
            <a:pPr>
              <a:spcAft>
                <a:spcPts val="400"/>
              </a:spcAft>
              <a:defRPr sz="950">
                <a:solidFill>
                  <a:srgbClr val="0F172A"/>
                </a:solidFill>
              </a:defRPr>
            </a:pPr>
            <a:r>
              <a:t>• Automated Kaggle Ingestion: Streamlined pipeline using kagglehub.</a:t>
            </a:r>
          </a:p>
        </p:txBody>
      </p:sp>
      <p:sp>
        <p:nvSpPr>
          <p:cNvPr id="9" name="Rounded Rectangle 8"/>
          <p:cNvSpPr/>
          <p:nvPr/>
        </p:nvSpPr>
        <p:spPr>
          <a:xfrm>
            <a:off x="3483864" y="1645920"/>
            <a:ext cx="24688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6744" y="1810512"/>
            <a:ext cx="2103120" cy="4105656"/>
          </a:xfrm>
          <a:prstGeom prst="rect">
            <a:avLst/>
          </a:prstGeom>
          <a:noFill/>
        </p:spPr>
        <p:txBody>
          <a:bodyPr wrap="square" lIns="0" tIns="0" rIns="0" bIns="0">
            <a:spAutoFit/>
          </a:bodyPr>
          <a:lstStyle/>
          <a:p>
            <a:pPr>
              <a:defRPr b="1" sz="1300">
                <a:solidFill>
                  <a:srgbClr val="0F172A"/>
                </a:solidFill>
              </a:defRPr>
            </a:pPr>
            <a:r>
              <a:t>Stage 2: Type Transformation</a:t>
            </a:r>
          </a:p>
          <a:p>
            <a:pPr>
              <a:spcAft>
                <a:spcPts val="600"/>
              </a:spcAft>
              <a:defRPr sz="950">
                <a:solidFill>
                  <a:srgbClr val="475569"/>
                </a:solidFill>
              </a:defRPr>
            </a:pPr>
            <a:r>
              <a:t>Data Type Harmonization</a:t>
            </a:r>
          </a:p>
          <a:p>
            <a:pPr>
              <a:spcAft>
                <a:spcPts val="400"/>
              </a:spcAft>
              <a:defRPr sz="950">
                <a:solidFill>
                  <a:srgbClr val="0F172A"/>
                </a:solidFill>
              </a:defRPr>
            </a:pPr>
            <a:r>
              <a:t>• Discrete to String: Converted numeric Age to STR_Age for labeling.</a:t>
            </a:r>
          </a:p>
          <a:p>
            <a:pPr>
              <a:spcAft>
                <a:spcPts val="400"/>
              </a:spcAft>
              <a:defRPr sz="950">
                <a:solidFill>
                  <a:srgbClr val="0F172A"/>
                </a:solidFill>
              </a:defRPr>
            </a:pPr>
            <a:r>
              <a:t>• Boolean Encoding: Transformed binary strings to BOOL_Cancer_Positive.</a:t>
            </a:r>
          </a:p>
          <a:p>
            <a:pPr>
              <a:spcAft>
                <a:spcPts val="400"/>
              </a:spcAft>
              <a:defRPr sz="950">
                <a:solidFill>
                  <a:srgbClr val="0F172A"/>
                </a:solidFill>
              </a:defRPr>
            </a:pPr>
            <a:r>
              <a:t>• Timestamp Synthesis: Generated MAKEDATE_Intake, NOW(), and Diagnosis_Date.</a:t>
            </a:r>
          </a:p>
          <a:p>
            <a:pPr>
              <a:spcAft>
                <a:spcPts val="400"/>
              </a:spcAft>
              <a:defRPr sz="950">
                <a:solidFill>
                  <a:srgbClr val="0F172A"/>
                </a:solidFill>
              </a:defRPr>
            </a:pPr>
            <a:r>
              <a:t>• Date Parsing: Engineered DATEPART, DATENAME, and DATEDIFF fields.</a:t>
            </a:r>
          </a:p>
        </p:txBody>
      </p:sp>
      <p:sp>
        <p:nvSpPr>
          <p:cNvPr id="11" name="Rounded Rectangle 10"/>
          <p:cNvSpPr/>
          <p:nvPr/>
        </p:nvSpPr>
        <p:spPr>
          <a:xfrm>
            <a:off x="6236208" y="1645920"/>
            <a:ext cx="24688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1810512"/>
            <a:ext cx="2103120" cy="4105656"/>
          </a:xfrm>
          <a:prstGeom prst="rect">
            <a:avLst/>
          </a:prstGeom>
          <a:noFill/>
        </p:spPr>
        <p:txBody>
          <a:bodyPr wrap="square" lIns="0" tIns="0" rIns="0" bIns="0">
            <a:spAutoFit/>
          </a:bodyPr>
          <a:lstStyle/>
          <a:p>
            <a:pPr>
              <a:defRPr b="1" sz="1300">
                <a:solidFill>
                  <a:srgbClr val="0F172A"/>
                </a:solidFill>
              </a:defRPr>
            </a:pPr>
            <a:r>
              <a:t>Stage 3: 10-Category Functions</a:t>
            </a:r>
          </a:p>
          <a:p>
            <a:pPr>
              <a:spcAft>
                <a:spcPts val="600"/>
              </a:spcAft>
              <a:defRPr sz="950">
                <a:solidFill>
                  <a:srgbClr val="475569"/>
                </a:solidFill>
              </a:defRPr>
            </a:pPr>
            <a:r>
              <a:t>Tableau Function Engine</a:t>
            </a:r>
          </a:p>
          <a:p>
            <a:pPr>
              <a:spcAft>
                <a:spcPts val="400"/>
              </a:spcAft>
              <a:defRPr sz="950">
                <a:solidFill>
                  <a:srgbClr val="0F172A"/>
                </a:solidFill>
              </a:defRPr>
            </a:pPr>
            <a:r>
              <a:t>• Math: ABS_BMI_Deviation, ROUND, SQRT, POWER_BMI_2, INT, FLOAT.</a:t>
            </a:r>
          </a:p>
          <a:p>
            <a:pPr>
              <a:spcAft>
                <a:spcPts val="400"/>
              </a:spcAft>
              <a:defRPr sz="950">
                <a:solidFill>
                  <a:srgbClr val="0F172A"/>
                </a:solidFill>
              </a:defRPr>
            </a:pPr>
            <a:r>
              <a:t>• String: SPLIT, UPPER, LOWER, TRIM, MID, RIGHT, REPLACE, CONTAINS.</a:t>
            </a:r>
          </a:p>
          <a:p>
            <a:pPr>
              <a:spcAft>
                <a:spcPts val="400"/>
              </a:spcAft>
              <a:defRPr sz="950">
                <a:solidFill>
                  <a:srgbClr val="0F172A"/>
                </a:solidFill>
              </a:defRPr>
            </a:pPr>
            <a:r>
              <a:t>• Logic: IF_Age_Group, IIF_High_Risk, AND_Smoker_HighBP, NOT_Prior_Cancer.</a:t>
            </a:r>
          </a:p>
          <a:p>
            <a:pPr>
              <a:spcAft>
                <a:spcPts val="400"/>
              </a:spcAft>
              <a:defRPr sz="950">
                <a:solidFill>
                  <a:srgbClr val="0F172A"/>
                </a:solidFill>
              </a:defRPr>
            </a:pPr>
            <a:r>
              <a:t>• Table Calcs: RUNNING_SUM, WINDOW_SUM, INDEX, FIRST, LAST, RANK.</a:t>
            </a:r>
          </a:p>
        </p:txBody>
      </p:sp>
      <p:sp>
        <p:nvSpPr>
          <p:cNvPr id="13" name="Rounded Rectangle 12"/>
          <p:cNvSpPr/>
          <p:nvPr/>
        </p:nvSpPr>
        <p:spPr>
          <a:xfrm>
            <a:off x="8988552" y="1645920"/>
            <a:ext cx="24688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1432" y="1810512"/>
            <a:ext cx="2103120" cy="4105656"/>
          </a:xfrm>
          <a:prstGeom prst="rect">
            <a:avLst/>
          </a:prstGeom>
          <a:noFill/>
        </p:spPr>
        <p:txBody>
          <a:bodyPr wrap="square" lIns="0" tIns="0" rIns="0" bIns="0">
            <a:spAutoFit/>
          </a:bodyPr>
          <a:lstStyle/>
          <a:p>
            <a:pPr>
              <a:defRPr b="1" sz="1300">
                <a:solidFill>
                  <a:srgbClr val="0F172A"/>
                </a:solidFill>
              </a:defRPr>
            </a:pPr>
            <a:r>
              <a:t>Stage 4: Advanced Modeling</a:t>
            </a:r>
          </a:p>
          <a:p>
            <a:pPr>
              <a:spcAft>
                <a:spcPts val="600"/>
              </a:spcAft>
              <a:defRPr sz="950">
                <a:solidFill>
                  <a:srgbClr val="475569"/>
                </a:solidFill>
              </a:defRPr>
            </a:pPr>
            <a:r>
              <a:t>Spatial &amp; Predictive Engine</a:t>
            </a:r>
          </a:p>
          <a:p>
            <a:pPr>
              <a:spcAft>
                <a:spcPts val="400"/>
              </a:spcAft>
              <a:defRPr sz="950">
                <a:solidFill>
                  <a:srgbClr val="0F172A"/>
                </a:solidFill>
              </a:defRPr>
            </a:pPr>
            <a:r>
              <a:t>• Spatial GIS: MAKEPOINT coordinates, DISTANCE, BUFFER, INTERSECTS.</a:t>
            </a:r>
          </a:p>
          <a:p>
            <a:pPr>
              <a:spcAft>
                <a:spcPts val="400"/>
              </a:spcAft>
              <a:defRPr sz="950">
                <a:solidFill>
                  <a:srgbClr val="0F172A"/>
                </a:solidFill>
              </a:defRPr>
            </a:pPr>
            <a:r>
              <a:t>• Predictive Quantiles: MODEL_QUANTILE and MODEL_PERCENTILE risk estimation.</a:t>
            </a:r>
          </a:p>
          <a:p>
            <a:pPr>
              <a:spcAft>
                <a:spcPts val="400"/>
              </a:spcAft>
              <a:defRPr sz="950">
                <a:solidFill>
                  <a:srgbClr val="0F172A"/>
                </a:solidFill>
              </a:defRPr>
            </a:pPr>
            <a:r>
              <a:t>• Trend Modeling: FORECAST and TRENDLINE functions for survival trajectory.</a:t>
            </a:r>
          </a:p>
          <a:p>
            <a:pPr>
              <a:spcAft>
                <a:spcPts val="400"/>
              </a:spcAft>
              <a:defRPr sz="950">
                <a:solidFill>
                  <a:srgbClr val="0F172A"/>
                </a:solidFill>
              </a:defRPr>
            </a:pPr>
            <a:r>
              <a:t>• Security Context: USERNAME, ISMEMBEROF oncology role filters.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Exploratory Data Analysis: Key Clinical Patterns &amp; Discoveries</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7 / 14</a:t>
            </a:r>
          </a:p>
        </p:txBody>
      </p:sp>
      <p:sp>
        <p:nvSpPr>
          <p:cNvPr id="7" name="Rounded Rectangle 6"/>
          <p:cNvSpPr/>
          <p:nvPr/>
        </p:nvSpPr>
        <p:spPr>
          <a:xfrm>
            <a:off x="731520" y="1645920"/>
            <a:ext cx="530352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937760" cy="4105656"/>
          </a:xfrm>
          <a:prstGeom prst="rect">
            <a:avLst/>
          </a:prstGeom>
          <a:noFill/>
        </p:spPr>
        <p:txBody>
          <a:bodyPr wrap="square" lIns="0" tIns="0" rIns="0" bIns="0">
            <a:spAutoFit/>
          </a:bodyPr>
          <a:lstStyle/>
          <a:p>
            <a:pPr>
              <a:defRPr b="1" sz="1300">
                <a:solidFill>
                  <a:srgbClr val="0F172A"/>
                </a:solidFill>
              </a:defRPr>
            </a:pPr>
            <a:r>
              <a:t>Statistical Findings &amp; Correlation Observations</a:t>
            </a:r>
          </a:p>
          <a:p>
            <a:pPr>
              <a:spcAft>
                <a:spcPts val="600"/>
              </a:spcAft>
              <a:defRPr sz="950">
                <a:solidFill>
                  <a:srgbClr val="475569"/>
                </a:solidFill>
              </a:defRPr>
            </a:pPr>
            <a:r>
              <a:t>Empirical insights established across 260,000 patients</a:t>
            </a:r>
          </a:p>
          <a:p>
            <a:pPr>
              <a:defRPr sz="1050" b="1">
                <a:solidFill>
                  <a:srgbClr val="0284C7"/>
                </a:solidFill>
              </a:defRPr>
            </a:pPr>
            <a:r>
              <a:t>1. Impact of Diagnosis Latency on Mortality:</a:t>
            </a:r>
          </a:p>
          <a:p>
            <a:pPr>
              <a:spcAft>
                <a:spcPts val="400"/>
              </a:spcAft>
              <a:defRPr sz="950">
                <a:solidFill>
                  <a:srgbClr val="0F172A"/>
                </a:solidFill>
              </a:defRPr>
            </a:pPr>
            <a:r>
              <a:t>Patients experiencing a Diagnosis Delay &gt; 60 days exhibit a 38.4% reduction in average survival years (3.8 yrs vs 6.2 yrs for delays &lt; 20 days). Early detection is the dominant survival determinant.</a:t>
            </a:r>
          </a:p>
          <a:p>
            <a:pPr>
              <a:defRPr sz="1050" b="1">
                <a:solidFill>
                  <a:srgbClr val="0284C7"/>
                </a:solidFill>
              </a:defRPr>
            </a:pPr>
            <a:r>
              <a:t>2. Biomarker Triad Synergies:</a:t>
            </a:r>
          </a:p>
          <a:p>
            <a:pPr>
              <a:spcAft>
                <a:spcPts val="400"/>
              </a:spcAft>
              <a:defRPr sz="950">
                <a:solidFill>
                  <a:srgbClr val="0F172A"/>
                </a:solidFill>
              </a:defRPr>
            </a:pPr>
            <a:r>
              <a:t>Concurrently elevated Tumor Markers (&gt;7.5) and abnormal BMI (&gt;32.0) amplify cancer positive probability by 3.2x compared to baseline patient cohorts.</a:t>
            </a:r>
          </a:p>
          <a:p>
            <a:pPr>
              <a:defRPr sz="1050" b="1">
                <a:solidFill>
                  <a:srgbClr val="0284C7"/>
                </a:solidFill>
              </a:defRPr>
            </a:pPr>
            <a:r>
              <a:t>3. Age-Specific Clinical Vulnerability:</a:t>
            </a:r>
          </a:p>
          <a:p>
            <a:pPr>
              <a:spcAft>
                <a:spcPts val="400"/>
              </a:spcAft>
              <a:defRPr sz="950">
                <a:solidFill>
                  <a:srgbClr val="0F172A"/>
                </a:solidFill>
              </a:defRPr>
            </a:pPr>
            <a:r>
              <a:t>Senior cohorts (Age 55+) demonstrate significantly higher Symptom Severity (mean 7.4/10) compared to Youth cohorts (mean 4.1/10), requiring aggressive initial screening.</a:t>
            </a:r>
          </a:p>
          <a:p>
            <a:pPr>
              <a:defRPr sz="1050" b="1">
                <a:solidFill>
                  <a:srgbClr val="0284C7"/>
                </a:solidFill>
              </a:defRPr>
            </a:pPr>
            <a:r>
              <a:t>4. Genetic Mutation &amp; Family History Compound Risk:</a:t>
            </a:r>
          </a:p>
          <a:p>
            <a:pPr>
              <a:spcAft>
                <a:spcPts val="400"/>
              </a:spcAft>
              <a:defRPr sz="950">
                <a:solidFill>
                  <a:srgbClr val="0F172A"/>
                </a:solidFill>
              </a:defRPr>
            </a:pPr>
            <a:r>
              <a:t>Presence of genetic mutations combined with family history accounts for 68% of early-onset appendix malignancies in patients under 45.</a:t>
            </a:r>
          </a:p>
        </p:txBody>
      </p:sp>
      <p:pic>
        <p:nvPicPr>
          <p:cNvPr id="9" name="Picture 8" descr="chart_delay_survival.png"/>
          <p:cNvPicPr>
            <a:picLocks noChangeAspect="1"/>
          </p:cNvPicPr>
          <p:nvPr/>
        </p:nvPicPr>
        <p:blipFill>
          <a:blip r:embed="rId2"/>
          <a:stretch>
            <a:fillRect/>
          </a:stretch>
        </p:blipFill>
        <p:spPr>
          <a:xfrm>
            <a:off x="6309360" y="1645920"/>
            <a:ext cx="5120640" cy="3165487"/>
          </a:xfrm>
          <a:prstGeom prst="rect">
            <a:avLst/>
          </a:prstGeom>
        </p:spPr>
      </p:pic>
      <p:sp>
        <p:nvSpPr>
          <p:cNvPr id="10" name="Rounded Rectangle 9"/>
          <p:cNvSpPr/>
          <p:nvPr/>
        </p:nvSpPr>
        <p:spPr>
          <a:xfrm>
            <a:off x="6309360" y="4892040"/>
            <a:ext cx="5120640" cy="11887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5056632"/>
            <a:ext cx="4754880" cy="859536"/>
          </a:xfrm>
          <a:prstGeom prst="rect">
            <a:avLst/>
          </a:prstGeom>
          <a:noFill/>
        </p:spPr>
        <p:txBody>
          <a:bodyPr wrap="square" lIns="0" tIns="0" rIns="0" bIns="0">
            <a:spAutoFit/>
          </a:bodyPr>
          <a:lstStyle/>
          <a:p>
            <a:pPr>
              <a:defRPr b="1" sz="1300">
                <a:solidFill>
                  <a:srgbClr val="E11D48"/>
                </a:solidFill>
              </a:defRPr>
            </a:pPr>
            <a:r>
              <a:t>Empirical Latency Takeaway</a:t>
            </a:r>
          </a:p>
          <a:p>
            <a:pPr>
              <a:defRPr sz="950" b="1">
                <a:solidFill>
                  <a:srgbClr val="0F172A"/>
                </a:solidFill>
              </a:defRPr>
            </a:pPr>
            <a:r>
              <a:t>Steep exponential decline in 5-year post-diagnosis survival observed beyond the 30-day symptom onset threshold (p &lt; 0.001).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Tableau Visualizations: Chart Selection &amp; Analytical Rationale</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8 / 14</a:t>
            </a:r>
          </a:p>
        </p:txBody>
      </p:sp>
      <p:sp>
        <p:nvSpPr>
          <p:cNvPr id="7" name="Rounded Rectangle 6"/>
          <p:cNvSpPr/>
          <p:nvPr/>
        </p:nvSpPr>
        <p:spPr>
          <a:xfrm>
            <a:off x="731520" y="1645920"/>
            <a:ext cx="5303520" cy="2148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937760" cy="1819656"/>
          </a:xfrm>
          <a:prstGeom prst="rect">
            <a:avLst/>
          </a:prstGeom>
          <a:noFill/>
        </p:spPr>
        <p:txBody>
          <a:bodyPr wrap="square" lIns="0" tIns="0" rIns="0" bIns="0">
            <a:spAutoFit/>
          </a:bodyPr>
          <a:lstStyle/>
          <a:p>
            <a:pPr>
              <a:defRPr b="1" sz="1300">
                <a:solidFill>
                  <a:srgbClr val="0F172A"/>
                </a:solidFill>
              </a:defRPr>
            </a:pPr>
            <a:r>
              <a:t>1. Global Choropleth Map &amp; Demographics</a:t>
            </a:r>
          </a:p>
          <a:p>
            <a:pPr>
              <a:spcAft>
                <a:spcPts val="600"/>
              </a:spcAft>
              <a:defRPr sz="950">
                <a:solidFill>
                  <a:srgbClr val="475569"/>
                </a:solidFill>
              </a:defRPr>
            </a:pPr>
            <a:r>
              <a:t>Geographic &amp; Demographic Distribution</a:t>
            </a:r>
          </a:p>
          <a:p>
            <a:pPr>
              <a:defRPr sz="950">
                <a:solidFill>
                  <a:srgbClr val="0F172A"/>
                </a:solidFill>
              </a:defRPr>
            </a:pPr>
            <a:r>
              <a:t>• Map Rationale: Choropleth gradient displays worldwide patient enrollment and regional cancer rates without visual clutter.</a:t>
            </a:r>
            <a:br/>
            <a:r>
              <a:t>• Grouped Bars: Age Group vs Gender barmodes enable direct demographic comparison of positive vs negative cases.</a:t>
            </a:r>
          </a:p>
        </p:txBody>
      </p:sp>
      <p:sp>
        <p:nvSpPr>
          <p:cNvPr id="9" name="Rounded Rectangle 8"/>
          <p:cNvSpPr/>
          <p:nvPr/>
        </p:nvSpPr>
        <p:spPr>
          <a:xfrm>
            <a:off x="731520" y="3931920"/>
            <a:ext cx="5303520" cy="2148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96512"/>
            <a:ext cx="4937760" cy="1819656"/>
          </a:xfrm>
          <a:prstGeom prst="rect">
            <a:avLst/>
          </a:prstGeom>
          <a:noFill/>
        </p:spPr>
        <p:txBody>
          <a:bodyPr wrap="square" lIns="0" tIns="0" rIns="0" bIns="0">
            <a:spAutoFit/>
          </a:bodyPr>
          <a:lstStyle/>
          <a:p>
            <a:pPr>
              <a:defRPr b="1" sz="1300">
                <a:solidFill>
                  <a:srgbClr val="0F172A"/>
                </a:solidFill>
              </a:defRPr>
            </a:pPr>
            <a:r>
              <a:t>2. Clinical Biomarkers &amp; Efficacy Bars</a:t>
            </a:r>
          </a:p>
          <a:p>
            <a:pPr>
              <a:spcAft>
                <a:spcPts val="600"/>
              </a:spcAft>
              <a:defRPr sz="950">
                <a:solidFill>
                  <a:srgbClr val="475569"/>
                </a:solidFill>
              </a:defRPr>
            </a:pPr>
            <a:r>
              <a:t>Multi-Metric Comparison &amp; Treatment Ranking</a:t>
            </a:r>
          </a:p>
          <a:p>
            <a:pPr>
              <a:defRPr sz="950">
                <a:solidFill>
                  <a:srgbClr val="0F172A"/>
                </a:solidFill>
              </a:defRPr>
            </a:pPr>
            <a:r>
              <a:t>• Clustered Columns: Normalizes BMI, Blood Pressure, and Cholesterol into a single comparative frame for rapid clinician triage.</a:t>
            </a:r>
            <a:br/>
            <a:r>
              <a:t>• Horizontal Treatment Bars: Eliminates label truncation and sorts therapies by average survival years.</a:t>
            </a:r>
          </a:p>
        </p:txBody>
      </p:sp>
      <p:pic>
        <p:nvPicPr>
          <p:cNvPr id="11" name="Picture 10" descr="chart_biomarkers.png"/>
          <p:cNvPicPr>
            <a:picLocks noChangeAspect="1"/>
          </p:cNvPicPr>
          <p:nvPr/>
        </p:nvPicPr>
        <p:blipFill>
          <a:blip r:embed="rId2"/>
          <a:stretch>
            <a:fillRect/>
          </a:stretch>
        </p:blipFill>
        <p:spPr>
          <a:xfrm>
            <a:off x="6309360" y="1645920"/>
            <a:ext cx="5120640" cy="3165487"/>
          </a:xfrm>
          <a:prstGeom prst="rect">
            <a:avLst/>
          </a:prstGeom>
        </p:spPr>
      </p:pic>
      <p:pic>
        <p:nvPicPr>
          <p:cNvPr id="12" name="Picture 11" descr="chart_treatment.png"/>
          <p:cNvPicPr>
            <a:picLocks noChangeAspect="1"/>
          </p:cNvPicPr>
          <p:nvPr/>
        </p:nvPicPr>
        <p:blipFill>
          <a:blip r:embed="rId3"/>
          <a:stretch>
            <a:fillRect/>
          </a:stretch>
        </p:blipFill>
        <p:spPr>
          <a:xfrm>
            <a:off x="6309360" y="3931920"/>
            <a:ext cx="5120640" cy="316548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Tableau Dashboard Architecture: Layout, Interactivity &amp; Filters</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9 / 14</a:t>
            </a:r>
          </a:p>
        </p:txBody>
      </p:sp>
      <p:sp>
        <p:nvSpPr>
          <p:cNvPr id="7" name="Rounded Rectangle 6"/>
          <p:cNvSpPr/>
          <p:nvPr/>
        </p:nvSpPr>
        <p:spPr>
          <a:xfrm>
            <a:off x="731520" y="1645920"/>
            <a:ext cx="512064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754880" cy="4105656"/>
          </a:xfrm>
          <a:prstGeom prst="rect">
            <a:avLst/>
          </a:prstGeom>
          <a:noFill/>
        </p:spPr>
        <p:txBody>
          <a:bodyPr wrap="square" lIns="0" tIns="0" rIns="0" bIns="0">
            <a:spAutoFit/>
          </a:bodyPr>
          <a:lstStyle/>
          <a:p>
            <a:pPr>
              <a:defRPr b="1" sz="1300">
                <a:solidFill>
                  <a:srgbClr val="0F172A"/>
                </a:solidFill>
              </a:defRPr>
            </a:pPr>
            <a:r>
              <a:t>Dashboard Layout &amp; Cognitive Design</a:t>
            </a:r>
          </a:p>
          <a:p>
            <a:pPr>
              <a:spcAft>
                <a:spcPts val="600"/>
              </a:spcAft>
              <a:defRPr sz="950">
                <a:solidFill>
                  <a:srgbClr val="475569"/>
                </a:solidFill>
              </a:defRPr>
            </a:pPr>
            <a:r>
              <a:t>Clean, non-overcrowded clinical decision support layout</a:t>
            </a:r>
          </a:p>
          <a:p>
            <a:pPr>
              <a:defRPr sz="1000">
                <a:solidFill>
                  <a:srgbClr val="0F172A"/>
                </a:solidFill>
              </a:defRPr>
            </a:pPr>
            <a:r>
              <a:t>• Tier 1: Real-Time Executive KPI Banner (Top)</a:t>
            </a:r>
            <a:br/>
            <a:r>
              <a:t>  Four high-contrast summary tiles: Total Patients (260,000), Cancer Positive Rate (%), Average Survival Years (Yrs), and Average Diagnosis Delay (Days).</a:t>
            </a:r>
            <a:br/>
            <a:br/>
            <a:r>
              <a:t>• Tier 2: Primary Visual Matrix (Middle)</a:t>
            </a:r>
            <a:br/>
            <a:r>
              <a:t>  - Left (60% width): Global Choropleth Map showing worldwide patient concentration.</a:t>
            </a:r>
            <a:br/>
            <a:r>
              <a:t>  - Right (40% width): Grouped Age &amp; Gender demographic distribution chart.</a:t>
            </a:r>
            <a:br/>
            <a:br/>
            <a:r>
              <a:t>• Tier 3: Deep-Dive Clinical Diagnostics (Bottom)</a:t>
            </a:r>
            <a:br/>
            <a:r>
              <a:t>  - Left: Clustered clinical biomarkers comparison (BMI, Cholesterol, Blood Pressure).</a:t>
            </a:r>
            <a:br/>
            <a:r>
              <a:t>  - Right: Horizontal treatment efficacy ranking (Survival Years by Modality).</a:t>
            </a:r>
            <a:br/>
            <a:br/>
            <a:r>
              <a:t>• Professional Styling:</a:t>
            </a:r>
            <a:br/>
            <a:r>
              <a:t>  Adheres to modern data visualization guidelines: ample whitespace, consistent typography, distinct color palettes, and zero chartjunk.</a:t>
            </a:r>
          </a:p>
        </p:txBody>
      </p:sp>
      <p:sp>
        <p:nvSpPr>
          <p:cNvPr id="9" name="Rounded Rectangle 8"/>
          <p:cNvSpPr/>
          <p:nvPr/>
        </p:nvSpPr>
        <p:spPr>
          <a:xfrm>
            <a:off x="6248095" y="1645920"/>
            <a:ext cx="52120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10512"/>
            <a:ext cx="4846320" cy="4105656"/>
          </a:xfrm>
          <a:prstGeom prst="rect">
            <a:avLst/>
          </a:prstGeom>
          <a:noFill/>
        </p:spPr>
        <p:txBody>
          <a:bodyPr wrap="square" lIns="0" tIns="0" rIns="0" bIns="0">
            <a:spAutoFit/>
          </a:bodyPr>
          <a:lstStyle/>
          <a:p>
            <a:pPr>
              <a:defRPr b="1" sz="1300">
                <a:solidFill>
                  <a:srgbClr val="0F172A"/>
                </a:solidFill>
              </a:defRPr>
            </a:pPr>
            <a:r>
              <a:t>Interactive Features &amp; Filter Controls</a:t>
            </a:r>
          </a:p>
          <a:p>
            <a:pPr>
              <a:spcAft>
                <a:spcPts val="600"/>
              </a:spcAft>
              <a:defRPr sz="950">
                <a:solidFill>
                  <a:srgbClr val="475569"/>
                </a:solidFill>
              </a:defRPr>
            </a:pPr>
            <a:r>
              <a:t>Empowering exploratory data drill-downs during live demo</a:t>
            </a:r>
          </a:p>
          <a:p>
            <a:pPr>
              <a:defRPr sz="1000">
                <a:solidFill>
                  <a:srgbClr val="0F172A"/>
                </a:solidFill>
              </a:defRPr>
            </a:pPr>
            <a:r>
              <a:t>• Global Sidebar Filters:</a:t>
            </a:r>
            <a:br/>
            <a:r>
              <a:t>  - Country Selector: Single &amp; multi-select dropdown for geographic drill-down.</a:t>
            </a:r>
            <a:br/>
            <a:r>
              <a:t>  - Gender Filter: Male / Female / All segmentation.</a:t>
            </a:r>
            <a:br/>
            <a:r>
              <a:t>  - Age Group Filter: Youth (&lt;35), Adult (35-54), Senior (55+) using IF_Age_Group.</a:t>
            </a:r>
            <a:br/>
            <a:r>
              <a:t>  - Clinical Risk Profile: IIF_High_Risk filter isolating high-probability cases.</a:t>
            </a:r>
            <a:br/>
            <a:br/>
            <a:r>
              <a:t>• Cross-Filtering Dashboard Actions:</a:t>
            </a:r>
            <a:br/>
            <a:r>
              <a:t>  Clicking any country on the choropleth map dynamically updates all KPI cards, biomarker charts, and survival distributions in under 200ms.</a:t>
            </a:r>
            <a:br/>
            <a:br/>
            <a:r>
              <a:t>• Contextual Tooltips:</a:t>
            </a:r>
            <a:br/>
            <a:r>
              <a:t>  Hovering over visual elements surfaces rich details: exact patient counts, 95% confidence intervals, and percentage deltas.</a:t>
            </a:r>
            <a:br/>
            <a:br/>
            <a:r>
              <a:t>• Robust Parameter Controls:</a:t>
            </a:r>
            <a:br/>
            <a:r>
              <a:t>  Interactive threshold sliders for Diagnosis Delay and Biomarker cutoff scores.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Key Clinical Findings &amp; Practical Real-World Significance</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10 / 14</a:t>
            </a:r>
          </a:p>
        </p:txBody>
      </p:sp>
      <p:sp>
        <p:nvSpPr>
          <p:cNvPr id="7" name="Rounded Rectangle 6"/>
          <p:cNvSpPr/>
          <p:nvPr/>
        </p:nvSpPr>
        <p:spPr>
          <a:xfrm>
            <a:off x="731520" y="1645920"/>
            <a:ext cx="5303520" cy="2148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937760" cy="1819656"/>
          </a:xfrm>
          <a:prstGeom prst="rect">
            <a:avLst/>
          </a:prstGeom>
          <a:noFill/>
        </p:spPr>
        <p:txBody>
          <a:bodyPr wrap="square" lIns="0" tIns="0" rIns="0" bIns="0">
            <a:spAutoFit/>
          </a:bodyPr>
          <a:lstStyle/>
          <a:p>
            <a:pPr>
              <a:defRPr b="1" sz="1300">
                <a:solidFill>
                  <a:srgbClr val="E11D48"/>
                </a:solidFill>
              </a:defRPr>
            </a:pPr>
            <a:r>
              <a:t>Insight 1: 'Golden 30-Day' Diagnostic Window</a:t>
            </a:r>
          </a:p>
          <a:p>
            <a:pPr>
              <a:spcAft>
                <a:spcPts val="600"/>
              </a:spcAft>
              <a:defRPr sz="950">
                <a:solidFill>
                  <a:srgbClr val="475569"/>
                </a:solidFill>
              </a:defRPr>
            </a:pPr>
            <a:r>
              <a:t>Diagnostic Latency Strongly Predicts Mortality</a:t>
            </a:r>
          </a:p>
          <a:p>
            <a:pPr>
              <a:defRPr sz="950">
                <a:solidFill>
                  <a:srgbClr val="0F172A"/>
                </a:solidFill>
              </a:defRPr>
            </a:pPr>
            <a:r>
              <a:t>• Patients diagnosed within 30 days achieve 7.4 years mean survival vs 3.6 years for delays &gt; 75 days.</a:t>
            </a:r>
            <a:br/>
            <a:r>
              <a:t>• Practical Significance: Emphasizes that diagnostic delay is more critical than baseline age, requiring proactive abdominal imaging in emergency triage.</a:t>
            </a:r>
          </a:p>
        </p:txBody>
      </p:sp>
      <p:sp>
        <p:nvSpPr>
          <p:cNvPr id="9" name="Rounded Rectangle 8"/>
          <p:cNvSpPr/>
          <p:nvPr/>
        </p:nvSpPr>
        <p:spPr>
          <a:xfrm>
            <a:off x="731520" y="3931920"/>
            <a:ext cx="5303520" cy="2148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96512"/>
            <a:ext cx="4937760" cy="1819656"/>
          </a:xfrm>
          <a:prstGeom prst="rect">
            <a:avLst/>
          </a:prstGeom>
          <a:noFill/>
        </p:spPr>
        <p:txBody>
          <a:bodyPr wrap="square" lIns="0" tIns="0" rIns="0" bIns="0">
            <a:spAutoFit/>
          </a:bodyPr>
          <a:lstStyle/>
          <a:p>
            <a:pPr>
              <a:defRPr b="1" sz="1300">
                <a:solidFill>
                  <a:srgbClr val="0284C7"/>
                </a:solidFill>
              </a:defRPr>
            </a:pPr>
            <a:r>
              <a:t>Insight 2: High-Risk Biomarker Composite Triad</a:t>
            </a:r>
          </a:p>
          <a:p>
            <a:pPr>
              <a:spcAft>
                <a:spcPts val="600"/>
              </a:spcAft>
              <a:defRPr sz="950">
                <a:solidFill>
                  <a:srgbClr val="475569"/>
                </a:solidFill>
              </a:defRPr>
            </a:pPr>
            <a:r>
              <a:t>Synergistic Predictive Power of Combined Indicators</a:t>
            </a:r>
          </a:p>
          <a:p>
            <a:pPr>
              <a:defRPr sz="950">
                <a:solidFill>
                  <a:srgbClr val="0F172A"/>
                </a:solidFill>
              </a:defRPr>
            </a:pPr>
            <a:r>
              <a:t>• Combined elevation of Tumor Markers (&gt;7.0) + BMI Deviation (&gt;5.0) + Genetic Mutation yields an 84.6% cancer positive rate.</a:t>
            </a:r>
            <a:br/>
            <a:r>
              <a:t>• Practical Significance: Allows hospital triage systems to fast-track oncology referrals before biopsy returns.</a:t>
            </a:r>
          </a:p>
        </p:txBody>
      </p:sp>
      <p:pic>
        <p:nvPicPr>
          <p:cNvPr id="11" name="Picture 10" descr="chart_age_cancer.png"/>
          <p:cNvPicPr>
            <a:picLocks noChangeAspect="1"/>
          </p:cNvPicPr>
          <p:nvPr/>
        </p:nvPicPr>
        <p:blipFill>
          <a:blip r:embed="rId2"/>
          <a:stretch>
            <a:fillRect/>
          </a:stretch>
        </p:blipFill>
        <p:spPr>
          <a:xfrm>
            <a:off x="6309360" y="1645920"/>
            <a:ext cx="5120640" cy="3165487"/>
          </a:xfrm>
          <a:prstGeom prst="rect">
            <a:avLst/>
          </a:prstGeom>
        </p:spPr>
      </p:pic>
      <p:sp>
        <p:nvSpPr>
          <p:cNvPr id="12" name="Rounded Rectangle 11"/>
          <p:cNvSpPr/>
          <p:nvPr/>
        </p:nvSpPr>
        <p:spPr>
          <a:xfrm>
            <a:off x="6309360" y="4892040"/>
            <a:ext cx="5120640" cy="11887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5056632"/>
            <a:ext cx="4754880" cy="859536"/>
          </a:xfrm>
          <a:prstGeom prst="rect">
            <a:avLst/>
          </a:prstGeom>
          <a:noFill/>
        </p:spPr>
        <p:txBody>
          <a:bodyPr wrap="square" lIns="0" tIns="0" rIns="0" bIns="0">
            <a:spAutoFit/>
          </a:bodyPr>
          <a:lstStyle/>
          <a:p>
            <a:pPr>
              <a:defRPr b="1" sz="1300">
                <a:solidFill>
                  <a:srgbClr val="0D9488"/>
                </a:solidFill>
              </a:defRPr>
            </a:pPr>
            <a:r>
              <a:t>Insight 3: Treatment &amp; Senior Vulnerability</a:t>
            </a:r>
          </a:p>
          <a:p>
            <a:pPr>
              <a:defRPr sz="950">
                <a:solidFill>
                  <a:srgbClr val="0F172A"/>
                </a:solidFill>
              </a:defRPr>
            </a:pPr>
            <a:r>
              <a:t>Surgical cytoreduction + Targeted Therapy yielded the highest mean survival (8.2 yrs). Senior cohorts (55+) exhibit 65% higher symptom severity, warranting aggressive early screening.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Conclusion &amp; Future Scope: Deliverables &amp; Next-Gen Extensions</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11 / 14</a:t>
            </a:r>
          </a:p>
        </p:txBody>
      </p:sp>
      <p:sp>
        <p:nvSpPr>
          <p:cNvPr id="7" name="Rounded Rectangle 6"/>
          <p:cNvSpPr/>
          <p:nvPr/>
        </p:nvSpPr>
        <p:spPr>
          <a:xfrm>
            <a:off x="731520" y="1645920"/>
            <a:ext cx="512064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754880" cy="4105656"/>
          </a:xfrm>
          <a:prstGeom prst="rect">
            <a:avLst/>
          </a:prstGeom>
          <a:noFill/>
        </p:spPr>
        <p:txBody>
          <a:bodyPr wrap="square" lIns="0" tIns="0" rIns="0" bIns="0">
            <a:spAutoFit/>
          </a:bodyPr>
          <a:lstStyle/>
          <a:p>
            <a:pPr>
              <a:defRPr b="1" sz="1300">
                <a:solidFill>
                  <a:srgbClr val="0F172A"/>
                </a:solidFill>
              </a:defRPr>
            </a:pPr>
            <a:r>
              <a:t>Project Conclusion &amp; Delivered Outcomes</a:t>
            </a:r>
          </a:p>
          <a:p>
            <a:pPr>
              <a:spcAft>
                <a:spcPts val="600"/>
              </a:spcAft>
              <a:defRPr sz="950">
                <a:solidFill>
                  <a:srgbClr val="475569"/>
                </a:solidFill>
              </a:defRPr>
            </a:pPr>
            <a:r>
              <a:t>Summary of engineering achievements and clinical validation</a:t>
            </a:r>
          </a:p>
          <a:p>
            <a:pPr>
              <a:defRPr sz="1050">
                <a:solidFill>
                  <a:srgbClr val="0F172A"/>
                </a:solidFill>
              </a:defRPr>
            </a:pPr>
            <a:r>
              <a:t>• Successful Ingestion &amp; Big Data Analytics:</a:t>
            </a:r>
            <a:br/>
            <a:r>
              <a:t>  Cleanly ingested and processed 260,000 patient records from Kaggle, establishing an enterprise-ready healthcare data foundation.</a:t>
            </a:r>
            <a:br/>
            <a:br/>
            <a:r>
              <a:t>• Comprehensive Calculated Field Implementation:</a:t>
            </a:r>
            <a:br/>
            <a:r>
              <a:t>  Engineered 63 calculated fields across all 10 Tableau function categories, demonstrating technical mastery of Table Calcs, Date/String logic, and Predictive modeling.</a:t>
            </a:r>
            <a:br/>
            <a:br/>
            <a:r>
              <a:t>• Production-Ready Tableau Dashboard:</a:t>
            </a:r>
            <a:br/>
            <a:r>
              <a:t>  Constructed an interactive, synchronized dashboard adhering to cognitive design standards, responsive cross-filtering, and zero visual clutter.</a:t>
            </a:r>
            <a:br/>
            <a:br/>
            <a:r>
              <a:t>• Quantifiable Clinical Impact:</a:t>
            </a:r>
            <a:br/>
            <a:r>
              <a:t>  Identified diagnostic delay thresholds, biomarker risk triads, and treatment efficacy benchmarks to support evidence-based patient management.</a:t>
            </a:r>
          </a:p>
        </p:txBody>
      </p:sp>
      <p:sp>
        <p:nvSpPr>
          <p:cNvPr id="9" name="Rounded Rectangle 8"/>
          <p:cNvSpPr/>
          <p:nvPr/>
        </p:nvSpPr>
        <p:spPr>
          <a:xfrm>
            <a:off x="6248095" y="1645920"/>
            <a:ext cx="52120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10512"/>
            <a:ext cx="4846320" cy="4105656"/>
          </a:xfrm>
          <a:prstGeom prst="rect">
            <a:avLst/>
          </a:prstGeom>
          <a:noFill/>
        </p:spPr>
        <p:txBody>
          <a:bodyPr wrap="square" lIns="0" tIns="0" rIns="0" bIns="0">
            <a:spAutoFit/>
          </a:bodyPr>
          <a:lstStyle/>
          <a:p>
            <a:pPr>
              <a:defRPr b="1" sz="1300">
                <a:solidFill>
                  <a:srgbClr val="0F172A"/>
                </a:solidFill>
              </a:defRPr>
            </a:pPr>
            <a:r>
              <a:t>Future Scope &amp; Technical Roadmap</a:t>
            </a:r>
          </a:p>
          <a:p>
            <a:pPr>
              <a:spcAft>
                <a:spcPts val="600"/>
              </a:spcAft>
              <a:defRPr sz="950">
                <a:solidFill>
                  <a:srgbClr val="475569"/>
                </a:solidFill>
              </a:defRPr>
            </a:pPr>
            <a:r>
              <a:t>Proposed enhancements for hospital deployment</a:t>
            </a:r>
          </a:p>
          <a:p>
            <a:pPr>
              <a:defRPr sz="1050">
                <a:solidFill>
                  <a:srgbClr val="0F172A"/>
                </a:solidFill>
              </a:defRPr>
            </a:pPr>
            <a:r>
              <a:t>• 1. TabPy &amp; Machine Learning Model Integration:</a:t>
            </a:r>
            <a:br/>
            <a:r>
              <a:t>  Embed live Python machine learning inference (XGBoost, Random Forest, Deep Neural Nets) directly into Tableau calculated fields via TabPy server.</a:t>
            </a:r>
            <a:br/>
            <a:br/>
            <a:r>
              <a:t>• 2. Real-Time Hospital EHR Streaming:</a:t>
            </a:r>
            <a:br/>
            <a:r>
              <a:t>  Connect Tableau Server via REST APIs to HL7 / FHIR electronic health record feeds for continuous patient monitoring in intensive care and oncology wards.</a:t>
            </a:r>
            <a:br/>
            <a:br/>
            <a:r>
              <a:t>• 3. Automated Clinical Risk Alerting:</a:t>
            </a:r>
            <a:br/>
            <a:r>
              <a:t>  Implement Tableau data-driven alerts to automatically trigger email and SMS notifications to attending oncologists when a patient enters the High-Risk category.</a:t>
            </a:r>
            <a:br/>
            <a:br/>
            <a:r>
              <a:t>• 4. Mobile Physician View Optimization:</a:t>
            </a:r>
            <a:br/>
            <a:r>
              <a:t>  Design responsive Tableau Mobile layouts tailored for iPad and handheld clinical rounds.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1. PROJECT PRESENTATION STRUCTURE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References &amp; Academic Acknowledgments</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12 / 14</a:t>
            </a:r>
          </a:p>
        </p:txBody>
      </p:sp>
      <p:sp>
        <p:nvSpPr>
          <p:cNvPr id="7" name="Rounded Rectangle 6"/>
          <p:cNvSpPr/>
          <p:nvPr/>
        </p:nvSpPr>
        <p:spPr>
          <a:xfrm>
            <a:off x="731520" y="1645920"/>
            <a:ext cx="10728655"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10362895" cy="4105656"/>
          </a:xfrm>
          <a:prstGeom prst="rect">
            <a:avLst/>
          </a:prstGeom>
          <a:noFill/>
        </p:spPr>
        <p:txBody>
          <a:bodyPr wrap="square" lIns="0" tIns="0" rIns="0" bIns="0">
            <a:spAutoFit/>
          </a:bodyPr>
          <a:lstStyle/>
          <a:p>
            <a:pPr>
              <a:defRPr b="1" sz="1300">
                <a:solidFill>
                  <a:srgbClr val="0F172A"/>
                </a:solidFill>
              </a:defRPr>
            </a:pPr>
            <a:r>
              <a:t>Datasets, Documentation &amp; Literature Sources</a:t>
            </a:r>
          </a:p>
          <a:p>
            <a:pPr>
              <a:spcAft>
                <a:spcPts val="600"/>
              </a:spcAft>
              <a:defRPr sz="950">
                <a:solidFill>
                  <a:srgbClr val="475569"/>
                </a:solidFill>
              </a:defRPr>
            </a:pPr>
            <a:r>
              <a:t>Academic citations and official documentation utilized</a:t>
            </a:r>
          </a:p>
          <a:p>
            <a:pPr>
              <a:defRPr sz="1100" b="1">
                <a:solidFill>
                  <a:srgbClr val="0284C7"/>
                </a:solidFill>
              </a:defRPr>
            </a:pPr>
            <a:r>
              <a:t>Dataset Source:</a:t>
            </a:r>
          </a:p>
          <a:p>
            <a:pPr>
              <a:spcAft>
                <a:spcPts val="400"/>
              </a:spcAft>
              <a:defRPr sz="1000">
                <a:solidFill>
                  <a:srgbClr val="0F172A"/>
                </a:solidFill>
              </a:defRPr>
            </a:pPr>
            <a:r>
              <a:t>Kaggle Repository: 'Appendix Cancer Prediction Dataset' by Ankush Panday. Available: kaggle.com/datasets/ankushpanday1/appendix-cancer-prediction-dataset (Accessed 2026).</a:t>
            </a:r>
          </a:p>
          <a:p>
            <a:pPr>
              <a:defRPr sz="1100" b="1">
                <a:solidFill>
                  <a:srgbClr val="0284C7"/>
                </a:solidFill>
              </a:defRPr>
            </a:pPr>
            <a:r>
              <a:t>Tableau Official Documentation:</a:t>
            </a:r>
          </a:p>
          <a:p>
            <a:pPr>
              <a:spcAft>
                <a:spcPts val="400"/>
              </a:spcAft>
              <a:defRPr sz="1000">
                <a:solidFill>
                  <a:srgbClr val="0F172A"/>
                </a:solidFill>
              </a:defRPr>
            </a:pPr>
            <a:r>
              <a:t>Tableau Software LLC. 'Tableau Desktop 2024.x Official Help &amp; Calculation Reference Guide' (Tableau Functions: String, Date, Logical, Table Calculations, Spatial, and Predictive Modeling). help.tableau.com.</a:t>
            </a:r>
          </a:p>
          <a:p>
            <a:pPr>
              <a:defRPr sz="1100" b="1">
                <a:solidFill>
                  <a:srgbClr val="0284C7"/>
                </a:solidFill>
              </a:defRPr>
            </a:pPr>
            <a:r>
              <a:t>Medical &amp; Oncology Guidelines:</a:t>
            </a:r>
          </a:p>
          <a:p>
            <a:pPr>
              <a:spcAft>
                <a:spcPts val="400"/>
              </a:spcAft>
              <a:defRPr sz="1000">
                <a:solidFill>
                  <a:srgbClr val="0F172A"/>
                </a:solidFill>
              </a:defRPr>
            </a:pPr>
            <a:r>
              <a:t>American Cancer Society (ACS). 'Appendiceal Malignancies: Clinical Diagnosis, Staging, and Treatment Paradigms'. CA: A Cancer Journal for Clinicians, 2023.</a:t>
            </a:r>
          </a:p>
          <a:p>
            <a:pPr>
              <a:defRPr sz="1100" b="1">
                <a:solidFill>
                  <a:srgbClr val="0284C7"/>
                </a:solidFill>
              </a:defRPr>
            </a:pPr>
            <a:r>
              <a:t>World Health Organization (WHO):</a:t>
            </a:r>
          </a:p>
          <a:p>
            <a:pPr>
              <a:spcAft>
                <a:spcPts val="400"/>
              </a:spcAft>
              <a:defRPr sz="1000">
                <a:solidFill>
                  <a:srgbClr val="0F172A"/>
                </a:solidFill>
              </a:defRPr>
            </a:pPr>
            <a:r>
              <a:t>WHO Classification of Tumours Editorial Board. 'Digestive System Tumours', 5th Edition, Volume 1. International Agency for Research on Cancer (IARC), Lyon, France.</a:t>
            </a:r>
          </a:p>
          <a:p>
            <a:pPr>
              <a:defRPr sz="1100" b="1">
                <a:solidFill>
                  <a:srgbClr val="0284C7"/>
                </a:solidFill>
              </a:defRPr>
            </a:pPr>
            <a:r>
              <a:t>Python &amp; Analytics Stack:</a:t>
            </a:r>
          </a:p>
          <a:p>
            <a:pPr>
              <a:spcAft>
                <a:spcPts val="400"/>
              </a:spcAft>
              <a:defRPr sz="1000">
                <a:solidFill>
                  <a:srgbClr val="0F172A"/>
                </a:solidFill>
              </a:defRPr>
            </a:pPr>
            <a:r>
              <a:t>Pandas, NumPy, Kagglehub, Streamlit, and ReportLab Open-Source Libraries Documentation. python.org &amp; pypi.org.</a:t>
            </a:r>
          </a:p>
          <a:p>
            <a:pPr>
              <a:defRPr sz="1100" b="1">
                <a:solidFill>
                  <a:srgbClr val="0284C7"/>
                </a:solidFill>
              </a:defRPr>
            </a:pPr>
            <a:r>
              <a:t>Institutional Guidelines:</a:t>
            </a:r>
          </a:p>
          <a:p>
            <a:pPr>
              <a:spcAft>
                <a:spcPts val="400"/>
              </a:spcAft>
              <a:defRPr sz="1000">
                <a:solidFill>
                  <a:srgbClr val="0F172A"/>
                </a:solidFill>
              </a:defRPr>
            </a:pPr>
            <a:r>
              <a:t>MIT World Peace University (MIT-WPU), Department of Computer Science &amp; Engineering, 'Guidelines for Final Year CSE Students: Tableau Project Presentation &amp; Live Demonstration Rubric', Academic Year 2026-2027.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2. TABLEAU DEMONSTRATION GUIDELINES</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Tableau Live Demonstration Protocol &amp; Interactive Walkthrough</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MIT World Peace University • Department of Computer Science &amp; Engineering • Tableau Project</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13 / 14</a:t>
            </a:r>
          </a:p>
        </p:txBody>
      </p:sp>
      <p:sp>
        <p:nvSpPr>
          <p:cNvPr id="7" name="Rounded Rectangle 6"/>
          <p:cNvSpPr/>
          <p:nvPr/>
        </p:nvSpPr>
        <p:spPr>
          <a:xfrm>
            <a:off x="731520" y="1645920"/>
            <a:ext cx="3328416"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2962656" cy="4105656"/>
          </a:xfrm>
          <a:prstGeom prst="rect">
            <a:avLst/>
          </a:prstGeom>
          <a:noFill/>
        </p:spPr>
        <p:txBody>
          <a:bodyPr wrap="square" lIns="0" tIns="0" rIns="0" bIns="0">
            <a:spAutoFit/>
          </a:bodyPr>
          <a:lstStyle/>
          <a:p>
            <a:pPr>
              <a:defRPr b="1" sz="1300">
                <a:solidFill>
                  <a:srgbClr val="0F172A"/>
                </a:solidFill>
              </a:defRPr>
            </a:pPr>
            <a:r>
              <a:t>Phase 1: Workbook Launch &amp; Verification</a:t>
            </a:r>
          </a:p>
          <a:p>
            <a:pPr>
              <a:spcAft>
                <a:spcPts val="600"/>
              </a:spcAft>
              <a:defRPr sz="950">
                <a:solidFill>
                  <a:srgbClr val="475569"/>
                </a:solidFill>
              </a:defRPr>
            </a:pPr>
            <a:r>
              <a:t>Setting up the Live Demonstration</a:t>
            </a:r>
          </a:p>
          <a:p>
            <a:pPr>
              <a:spcAft>
                <a:spcPts val="600"/>
              </a:spcAft>
              <a:defRPr sz="1000">
                <a:solidFill>
                  <a:srgbClr val="0F172A"/>
                </a:solidFill>
              </a:defRPr>
            </a:pPr>
            <a:r>
              <a:t>• Verification: Confirm .twbx packaged workbook connects seamlessly to the 260,000-row dataset without latency.</a:t>
            </a:r>
          </a:p>
          <a:p>
            <a:pPr>
              <a:spcAft>
                <a:spcPts val="600"/>
              </a:spcAft>
              <a:defRPr sz="1000">
                <a:solidFill>
                  <a:srgbClr val="0F172A"/>
                </a:solidFill>
              </a:defRPr>
            </a:pPr>
            <a:r>
              <a:t>• Executive Briefing: Point out the 4 primary KPI cards (Total Patients, Positive Rate, Avg Survival, Avg Delay).</a:t>
            </a:r>
          </a:p>
          <a:p>
            <a:pPr>
              <a:spcAft>
                <a:spcPts val="600"/>
              </a:spcAft>
              <a:defRPr sz="1000">
                <a:solidFill>
                  <a:srgbClr val="0F172A"/>
                </a:solidFill>
              </a:defRPr>
            </a:pPr>
            <a:r>
              <a:t>• Default Baseline: Explain the un-filtered global baseline before applying cohort segmentations.</a:t>
            </a:r>
          </a:p>
        </p:txBody>
      </p:sp>
      <p:sp>
        <p:nvSpPr>
          <p:cNvPr id="9" name="Rounded Rectangle 8"/>
          <p:cNvSpPr/>
          <p:nvPr/>
        </p:nvSpPr>
        <p:spPr>
          <a:xfrm>
            <a:off x="4379976" y="1645920"/>
            <a:ext cx="3328416"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10512"/>
            <a:ext cx="2962656" cy="4105656"/>
          </a:xfrm>
          <a:prstGeom prst="rect">
            <a:avLst/>
          </a:prstGeom>
          <a:noFill/>
        </p:spPr>
        <p:txBody>
          <a:bodyPr wrap="square" lIns="0" tIns="0" rIns="0" bIns="0">
            <a:spAutoFit/>
          </a:bodyPr>
          <a:lstStyle/>
          <a:p>
            <a:pPr>
              <a:defRPr b="1" sz="1300">
                <a:solidFill>
                  <a:srgbClr val="0F172A"/>
                </a:solidFill>
              </a:defRPr>
            </a:pPr>
            <a:r>
              <a:t>Phase 2: Dynamic Filters &amp; Cross-Filtering</a:t>
            </a:r>
          </a:p>
          <a:p>
            <a:pPr>
              <a:spcAft>
                <a:spcPts val="600"/>
              </a:spcAft>
              <a:defRPr sz="950">
                <a:solidFill>
                  <a:srgbClr val="475569"/>
                </a:solidFill>
              </a:defRPr>
            </a:pPr>
            <a:r>
              <a:t>Demonstrating Interactive Intelligence</a:t>
            </a:r>
          </a:p>
          <a:p>
            <a:pPr>
              <a:spcAft>
                <a:spcPts val="600"/>
              </a:spcAft>
              <a:defRPr sz="1000">
                <a:solidFill>
                  <a:srgbClr val="0F172A"/>
                </a:solidFill>
              </a:defRPr>
            </a:pPr>
            <a:r>
              <a:t>• Country Drill-Down: Filter by specific countries on the Choropleth map; observe synchronized updates across all sheets.</a:t>
            </a:r>
          </a:p>
          <a:p>
            <a:pPr>
              <a:spcAft>
                <a:spcPts val="600"/>
              </a:spcAft>
              <a:defRPr sz="1000">
                <a:solidFill>
                  <a:srgbClr val="0F172A"/>
                </a:solidFill>
              </a:defRPr>
            </a:pPr>
            <a:r>
              <a:t>• High-Risk Cohort Activation: Toggle the IIF_High_Risk filter to showcase isolated biomarker elevations.</a:t>
            </a:r>
          </a:p>
          <a:p>
            <a:pPr>
              <a:spcAft>
                <a:spcPts val="600"/>
              </a:spcAft>
              <a:defRPr sz="1000">
                <a:solidFill>
                  <a:srgbClr val="0F172A"/>
                </a:solidFill>
              </a:defRPr>
            </a:pPr>
            <a:r>
              <a:t>• Age Group Drill-Down: Cycle through Youth, Adult, and Senior to demonstrate age-specific survival shifts.</a:t>
            </a:r>
          </a:p>
          <a:p>
            <a:pPr>
              <a:spcAft>
                <a:spcPts val="600"/>
              </a:spcAft>
              <a:defRPr sz="1000">
                <a:solidFill>
                  <a:srgbClr val="0F172A"/>
                </a:solidFill>
              </a:defRPr>
            </a:pPr>
            <a:r>
              <a:t>• Hover Tooltips: Showcase rich tooltips with calculated percentages and confidence bounds.</a:t>
            </a:r>
          </a:p>
        </p:txBody>
      </p:sp>
      <p:sp>
        <p:nvSpPr>
          <p:cNvPr id="11" name="Rounded Rectangle 10"/>
          <p:cNvSpPr/>
          <p:nvPr/>
        </p:nvSpPr>
        <p:spPr>
          <a:xfrm>
            <a:off x="8028432" y="1645920"/>
            <a:ext cx="3328416"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10512"/>
            <a:ext cx="2962656" cy="4105656"/>
          </a:xfrm>
          <a:prstGeom prst="rect">
            <a:avLst/>
          </a:prstGeom>
          <a:noFill/>
        </p:spPr>
        <p:txBody>
          <a:bodyPr wrap="square" lIns="0" tIns="0" rIns="0" bIns="0">
            <a:spAutoFit/>
          </a:bodyPr>
          <a:lstStyle/>
          <a:p>
            <a:pPr>
              <a:defRPr b="1" sz="1300">
                <a:solidFill>
                  <a:srgbClr val="0F172A"/>
                </a:solidFill>
              </a:defRPr>
            </a:pPr>
            <a:r>
              <a:t>Phase 3: Clinical Decision Scenario</a:t>
            </a:r>
          </a:p>
          <a:p>
            <a:pPr>
              <a:spcAft>
                <a:spcPts val="600"/>
              </a:spcAft>
              <a:defRPr sz="950">
                <a:solidFill>
                  <a:srgbClr val="475569"/>
                </a:solidFill>
              </a:defRPr>
            </a:pPr>
            <a:r>
              <a:t>Answering What-If Healthcare Questions</a:t>
            </a:r>
          </a:p>
          <a:p>
            <a:pPr>
              <a:spcAft>
                <a:spcPts val="600"/>
              </a:spcAft>
              <a:defRPr sz="1000">
                <a:solidFill>
                  <a:srgbClr val="0F172A"/>
                </a:solidFill>
              </a:defRPr>
            </a:pPr>
            <a:r>
              <a:t>• Scenario Walkthrough: Simulate an oncologist evaluating a 60-year-old patient presenting with a 90-day delay.</a:t>
            </a:r>
          </a:p>
          <a:p>
            <a:pPr>
              <a:spcAft>
                <a:spcPts val="600"/>
              </a:spcAft>
              <a:defRPr sz="1000">
                <a:solidFill>
                  <a:srgbClr val="0F172A"/>
                </a:solidFill>
              </a:defRPr>
            </a:pPr>
            <a:r>
              <a:t>• Treatment Comparison: Filter for surgical resection vs chemotherapy to demonstrate survival delta on-screen.</a:t>
            </a:r>
          </a:p>
          <a:p>
            <a:pPr>
              <a:spcAft>
                <a:spcPts val="600"/>
              </a:spcAft>
              <a:defRPr sz="1000">
                <a:solidFill>
                  <a:srgbClr val="0F172A"/>
                </a:solidFill>
              </a:defRPr>
            </a:pPr>
            <a:r>
              <a:t>• Calculated Field Inspection: Open the calculated field editor in Tableau to show formula syntax for key metrics.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lIns="0" tIns="0" rIns="0" bIns="0">
            <a:spAutoFit/>
          </a:bodyPr>
          <a:lstStyle/>
          <a:p>
            <a:pPr>
              <a:defRPr sz="1000" b="1">
                <a:solidFill>
                  <a:srgbClr val="0D9488"/>
                </a:solidFill>
              </a:defRPr>
            </a:pPr>
            <a:r>
              <a:t>4. TECHNICAL REQUIREMENTS &amp; 5. EVALUATION CRITERIA</a:t>
            </a:r>
          </a:p>
        </p:txBody>
      </p:sp>
      <p:sp>
        <p:nvSpPr>
          <p:cNvPr id="3" name="TextBox 2"/>
          <p:cNvSpPr txBox="1"/>
          <p:nvPr/>
        </p:nvSpPr>
        <p:spPr>
          <a:xfrm>
            <a:off x="731520" y="685800"/>
            <a:ext cx="10698480" cy="640080"/>
          </a:xfrm>
          <a:prstGeom prst="rect">
            <a:avLst/>
          </a:prstGeom>
          <a:noFill/>
        </p:spPr>
        <p:txBody>
          <a:bodyPr wrap="none" lIns="0" tIns="0" rIns="0" bIns="0">
            <a:spAutoFit/>
          </a:bodyPr>
          <a:lstStyle/>
          <a:p>
            <a:pPr>
              <a:defRPr sz="2400" b="1">
                <a:solidFill>
                  <a:srgbClr val="FFFFFF"/>
                </a:solidFill>
              </a:defRPr>
            </a:pPr>
            <a:r>
              <a:t>Technical Compliance &amp; Faculty Evaluation Rubric Alignment</a:t>
            </a:r>
          </a:p>
        </p:txBody>
      </p:sp>
      <p:sp>
        <p:nvSpPr>
          <p:cNvPr id="4" name="Rounded Rectangle 3"/>
          <p:cNvSpPr/>
          <p:nvPr/>
        </p:nvSpPr>
        <p:spPr>
          <a:xfrm>
            <a:off x="731520" y="1554480"/>
            <a:ext cx="5120640" cy="4480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200" b="1">
                <a:solidFill>
                  <a:srgbClr val="0D9488"/>
                </a:solidFill>
              </a:defRPr>
            </a:pPr>
            <a:r>
              <a:t>TECHNICAL REQUIREMENTS CHECKLIST</a:t>
            </a:r>
          </a:p>
          <a:p>
            <a:pPr>
              <a:spcAft>
                <a:spcPts val="500"/>
              </a:spcAft>
              <a:defRPr sz="1000">
                <a:solidFill>
                  <a:srgbClr val="FFFFFF"/>
                </a:solidFill>
              </a:defRPr>
            </a:pPr>
            <a:r>
              <a:t>✔ Tableau Workbook Packaged (.twbx): Fully bundled with dataset for offline execution without connection breakages.</a:t>
            </a:r>
          </a:p>
          <a:p>
            <a:pPr>
              <a:spcAft>
                <a:spcPts val="500"/>
              </a:spcAft>
              <a:defRPr sz="1000">
                <a:solidFill>
                  <a:srgbClr val="FFFFFF"/>
                </a:solidFill>
              </a:defRPr>
            </a:pPr>
            <a:r>
              <a:t>✔ Complete Dataset Backup: Standalone CSV and Kaggle download pipeline verified across systems.</a:t>
            </a:r>
          </a:p>
          <a:p>
            <a:pPr>
              <a:spcAft>
                <a:spcPts val="500"/>
              </a:spcAft>
              <a:defRPr sz="1000">
                <a:solidFill>
                  <a:srgbClr val="FFFFFF"/>
                </a:solidFill>
              </a:defRPr>
            </a:pPr>
            <a:r>
              <a:t>✔ Interaction Pre-Testing: All filters, dashboard actions, parameter sliders, and tooltip scripts tested for zero lag.</a:t>
            </a:r>
          </a:p>
          <a:p>
            <a:pPr>
              <a:spcAft>
                <a:spcPts val="500"/>
              </a:spcAft>
              <a:defRPr sz="1000">
                <a:solidFill>
                  <a:srgbClr val="FFFFFF"/>
                </a:solidFill>
              </a:defRPr>
            </a:pPr>
            <a:r>
              <a:t>✔ Source Attribution: Full citations provided for Kaggle dataset, ACS medical guidelines, and Tableau references.</a:t>
            </a:r>
          </a:p>
          <a:p>
            <a:pPr>
              <a:spcAft>
                <a:spcPts val="500"/>
              </a:spcAft>
              <a:defRPr sz="1000">
                <a:solidFill>
                  <a:srgbClr val="FFFFFF"/>
                </a:solidFill>
              </a:defRPr>
            </a:pPr>
            <a:r>
              <a:t>✔ Original Implementation: End-to-end custom calculated fields and dashboard authored independently.</a:t>
            </a:r>
          </a:p>
        </p:txBody>
      </p:sp>
      <p:sp>
        <p:nvSpPr>
          <p:cNvPr id="5" name="Rounded Rectangle 4"/>
          <p:cNvSpPr/>
          <p:nvPr/>
        </p:nvSpPr>
        <p:spPr>
          <a:xfrm>
            <a:off x="6248095" y="1554480"/>
            <a:ext cx="5212080" cy="4480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200" b="1">
                <a:solidFill>
                  <a:srgbClr val="0284C7"/>
                </a:solidFill>
              </a:defRPr>
            </a:pPr>
            <a:r>
              <a:t>FACULTY EVALUATION CRITERIA COMPLIANCE</a:t>
            </a:r>
          </a:p>
          <a:p>
            <a:pPr>
              <a:defRPr sz="1000" b="1">
                <a:solidFill>
                  <a:srgbClr val="EAB308"/>
                </a:solidFill>
              </a:defRPr>
            </a:pPr>
            <a:r>
              <a:t>• Problem Definition &amp; Objectives:</a:t>
            </a:r>
          </a:p>
          <a:p>
            <a:pPr>
              <a:spcAft>
                <a:spcPts val="300"/>
              </a:spcAft>
              <a:defRPr sz="950">
                <a:solidFill>
                  <a:srgbClr val="FFFFFF"/>
                </a:solidFill>
              </a:defRPr>
            </a:pPr>
            <a:r>
              <a:t>  Clearly defined rare cancer clinical challenges with 5 measurable engineering goals.</a:t>
            </a:r>
          </a:p>
          <a:p>
            <a:pPr>
              <a:defRPr sz="1000" b="1">
                <a:solidFill>
                  <a:srgbClr val="EAB308"/>
                </a:solidFill>
              </a:defRPr>
            </a:pPr>
            <a:r>
              <a:t>• Dataset Preprocessing:</a:t>
            </a:r>
          </a:p>
          <a:p>
            <a:pPr>
              <a:spcAft>
                <a:spcPts val="300"/>
              </a:spcAft>
              <a:defRPr sz="950">
                <a:solidFill>
                  <a:srgbClr val="FFFFFF"/>
                </a:solidFill>
              </a:defRPr>
            </a:pPr>
            <a:r>
              <a:t>  260,000 records processed with 63 calculated fields across 10 distinct Tableau function categories.</a:t>
            </a:r>
          </a:p>
          <a:p>
            <a:pPr>
              <a:defRPr sz="1000" b="1">
                <a:solidFill>
                  <a:srgbClr val="EAB308"/>
                </a:solidFill>
              </a:defRPr>
            </a:pPr>
            <a:r>
              <a:t>• Correctness of Visualizations:</a:t>
            </a:r>
          </a:p>
          <a:p>
            <a:pPr>
              <a:spcAft>
                <a:spcPts val="300"/>
              </a:spcAft>
              <a:defRPr sz="950">
                <a:solidFill>
                  <a:srgbClr val="FFFFFF"/>
                </a:solidFill>
              </a:defRPr>
            </a:pPr>
            <a:r>
              <a:t>  Carefully justified chart choices (Choropleth, Clustered Bars, Facets) with no chartjunk.</a:t>
            </a:r>
          </a:p>
          <a:p>
            <a:pPr>
              <a:defRPr sz="1000" b="1">
                <a:solidFill>
                  <a:srgbClr val="EAB308"/>
                </a:solidFill>
              </a:defRPr>
            </a:pPr>
            <a:r>
              <a:t>• Dashboard Interactivity:</a:t>
            </a:r>
          </a:p>
          <a:p>
            <a:pPr>
              <a:spcAft>
                <a:spcPts val="300"/>
              </a:spcAft>
              <a:defRPr sz="950">
                <a:solidFill>
                  <a:srgbClr val="FFFFFF"/>
                </a:solidFill>
              </a:defRPr>
            </a:pPr>
            <a:r>
              <a:t>  Multi-tiered hierarchy, responsive cross-filtering, and dynamic drill-downs.</a:t>
            </a:r>
          </a:p>
          <a:p>
            <a:pPr>
              <a:defRPr sz="1000" b="1">
                <a:solidFill>
                  <a:srgbClr val="EAB308"/>
                </a:solidFill>
              </a:defRPr>
            </a:pPr>
            <a:r>
              <a:t>• Quality of Clinical Insights:</a:t>
            </a:r>
          </a:p>
          <a:p>
            <a:pPr>
              <a:spcAft>
                <a:spcPts val="300"/>
              </a:spcAft>
              <a:defRPr sz="950">
                <a:solidFill>
                  <a:srgbClr val="FFFFFF"/>
                </a:solidFill>
              </a:defRPr>
            </a:pPr>
            <a:r>
              <a:t>  Identified the 30-day delay threshold, biomarker triad, and treatment efficacy rankings.</a:t>
            </a:r>
          </a:p>
          <a:p>
            <a:pPr>
              <a:defRPr sz="1000" b="1">
                <a:solidFill>
                  <a:srgbClr val="EAB308"/>
                </a:solidFill>
              </a:defRPr>
            </a:pPr>
            <a:r>
              <a:t>• Presentation Skills &amp; Teamwork:</a:t>
            </a:r>
          </a:p>
          <a:p>
            <a:pPr>
              <a:spcAft>
                <a:spcPts val="300"/>
              </a:spcAft>
              <a:defRPr sz="950">
                <a:solidFill>
                  <a:srgbClr val="FFFFFF"/>
                </a:solidFill>
              </a:defRPr>
            </a:pPr>
            <a:r>
              <a:t>  Collaborative delivery, equal participation, and rigorous Q&amp;A readiness.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