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914400" y="1097280"/>
            <a:ext cx="137160" cy="20116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005840"/>
            <a:ext cx="10058400" cy="2103120"/>
          </a:xfrm>
          <a:prstGeom prst="rect">
            <a:avLst/>
          </a:prstGeom>
          <a:noFill/>
        </p:spPr>
        <p:txBody>
          <a:bodyPr wrap="square">
            <a:spAutoFit/>
          </a:bodyPr>
          <a:lstStyle/>
          <a:p>
            <a:pPr>
              <a:spcAft>
                <a:spcPts val="800"/>
              </a:spcAft>
              <a:defRPr sz="1200" b="1">
                <a:solidFill>
                  <a:srgbClr val="0D9488"/>
                </a:solidFill>
              </a:defRPr>
            </a:pPr>
            <a:r>
              <a:t>DEPARTMENT OF COMPUTER SCIENCE &amp; ENGINEERING</a:t>
            </a:r>
          </a:p>
          <a:p>
            <a:pPr>
              <a:spcAft>
                <a:spcPts val="1000"/>
              </a:spcAft>
              <a:defRPr sz="3200" b="1">
                <a:solidFill>
                  <a:srgbClr val="FFFFFF"/>
                </a:solidFill>
              </a:defRPr>
            </a:pPr>
            <a:r>
              <a:t>Guidelines for Final Year CSE Students</a:t>
            </a:r>
            <a:br/>
            <a:r>
              <a:t>Tableau Project Presentation &amp; Demonstration</a:t>
            </a:r>
          </a:p>
          <a:p>
            <a:pPr>
              <a:defRPr sz="1300">
                <a:solidFill>
                  <a:srgbClr val="CBD5E1"/>
                </a:solidFill>
              </a:defRPr>
            </a:pPr>
            <a:r>
              <a:t>Official Blueprint for Presentation Structure, Live Demonstration Protocols, Technical Readiness &amp; Evaluation Rubric</a:t>
            </a:r>
          </a:p>
        </p:txBody>
      </p:sp>
      <p:sp>
        <p:nvSpPr>
          <p:cNvPr id="4" name="Rounded Rectangle 3"/>
          <p:cNvSpPr/>
          <p:nvPr/>
        </p:nvSpPr>
        <p:spPr>
          <a:xfrm>
            <a:off x="914400" y="3474720"/>
            <a:ext cx="3291840" cy="22860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100" b="1">
                <a:solidFill>
                  <a:srgbClr val="0284C7"/>
                </a:solidFill>
              </a:defRPr>
            </a:pPr>
            <a:r>
              <a:t>TARGET AUDIENCE</a:t>
            </a:r>
          </a:p>
          <a:p>
            <a:pPr>
              <a:defRPr sz="1100">
                <a:solidFill>
                  <a:srgbClr val="FFFFFF"/>
                </a:solidFill>
              </a:defRPr>
            </a:pPr>
            <a:r>
              <a:t>• All Final Year B.Tech CSE Students</a:t>
            </a:r>
            <a:br/>
            <a:r>
              <a:t>• Project Evaluation Panels</a:t>
            </a:r>
            <a:br/>
            <a:r>
              <a:t>• Project Faculty Guides</a:t>
            </a:r>
          </a:p>
        </p:txBody>
      </p:sp>
      <p:sp>
        <p:nvSpPr>
          <p:cNvPr id="5" name="Rounded Rectangle 4"/>
          <p:cNvSpPr/>
          <p:nvPr/>
        </p:nvSpPr>
        <p:spPr>
          <a:xfrm>
            <a:off x="4443984" y="3474720"/>
            <a:ext cx="3291840" cy="22860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100" b="1">
                <a:solidFill>
                  <a:srgbClr val="0D9488"/>
                </a:solidFill>
              </a:defRPr>
            </a:pPr>
            <a:r>
              <a:t>CORE DELIVERABLES</a:t>
            </a:r>
          </a:p>
          <a:p>
            <a:pPr>
              <a:defRPr sz="1100">
                <a:solidFill>
                  <a:srgbClr val="FFFFFF"/>
                </a:solidFill>
              </a:defRPr>
            </a:pPr>
            <a:r>
              <a:t>• 12-Slide Standard Presentation</a:t>
            </a:r>
            <a:br/>
            <a:r>
              <a:t>• Live Working Tableau Dashboard</a:t>
            </a:r>
            <a:br/>
            <a:r>
              <a:t>• .twbx Packaged Workbook &amp; Data</a:t>
            </a:r>
          </a:p>
        </p:txBody>
      </p:sp>
      <p:sp>
        <p:nvSpPr>
          <p:cNvPr id="6" name="Rounded Rectangle 5"/>
          <p:cNvSpPr/>
          <p:nvPr/>
        </p:nvSpPr>
        <p:spPr>
          <a:xfrm>
            <a:off x="7982712" y="3474720"/>
            <a:ext cx="3291840" cy="22860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100" b="1">
                <a:solidFill>
                  <a:srgbClr val="EAB308"/>
                </a:solidFill>
              </a:defRPr>
            </a:pPr>
            <a:r>
              <a:t>EVALUATION EMPHASIS</a:t>
            </a:r>
          </a:p>
          <a:p>
            <a:pPr>
              <a:defRPr sz="1100">
                <a:solidFill>
                  <a:srgbClr val="FFFFFF"/>
                </a:solidFill>
              </a:defRPr>
            </a:pPr>
            <a:r>
              <a:t>• Analytical depth &amp; business insights</a:t>
            </a:r>
            <a:br/>
            <a:r>
              <a:t>• Professional, uncluttered design</a:t>
            </a:r>
            <a:br/>
            <a:r>
              <a:t>• Equal team member participation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none" lIns="0" tIns="0" rIns="0" bIns="0">
            <a:spAutoFit/>
          </a:bodyPr>
          <a:lstStyle/>
          <a:p>
            <a:pPr>
              <a:defRPr sz="1000" b="1">
                <a:solidFill>
                  <a:srgbClr val="0284C7"/>
                </a:solidFill>
              </a:defRPr>
            </a:pPr>
            <a:r>
              <a:t>DEPARTMENTAL PRESENTATION GUIDELINES</a:t>
            </a:r>
          </a:p>
        </p:txBody>
      </p:sp>
      <p:sp>
        <p:nvSpPr>
          <p:cNvPr id="3" name="TextBox 2"/>
          <p:cNvSpPr txBox="1"/>
          <p:nvPr/>
        </p:nvSpPr>
        <p:spPr>
          <a:xfrm>
            <a:off x="731520" y="685800"/>
            <a:ext cx="10698480" cy="640080"/>
          </a:xfrm>
          <a:prstGeom prst="rect">
            <a:avLst/>
          </a:prstGeom>
          <a:noFill/>
        </p:spPr>
        <p:txBody>
          <a:bodyPr wrap="none" lIns="0" tIns="0" rIns="0" bIns="0">
            <a:spAutoFit/>
          </a:bodyPr>
          <a:lstStyle/>
          <a:p>
            <a:pPr>
              <a:defRPr sz="2400" b="1">
                <a:solidFill>
                  <a:srgbClr val="0F172A"/>
                </a:solidFill>
              </a:defRPr>
            </a:pPr>
            <a:r>
              <a:t>Section 1: Mandatory 12-Slide Presentation Blueprint</a:t>
            </a:r>
          </a:p>
        </p:txBody>
      </p:sp>
      <p:sp>
        <p:nvSpPr>
          <p:cNvPr id="4" name="Rectangle 3"/>
          <p:cNvSpPr/>
          <p:nvPr/>
        </p:nvSpPr>
        <p:spPr>
          <a:xfrm>
            <a:off x="731520" y="137160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601200" cy="274320"/>
          </a:xfrm>
          <a:prstGeom prst="rect">
            <a:avLst/>
          </a:prstGeom>
          <a:noFill/>
        </p:spPr>
        <p:txBody>
          <a:bodyPr wrap="none" lIns="0" tIns="0" rIns="0" bIns="0">
            <a:spAutoFit/>
          </a:bodyPr>
          <a:lstStyle/>
          <a:p>
            <a:pPr>
              <a:defRPr sz="900">
                <a:solidFill>
                  <a:srgbClr val="475569"/>
                </a:solidFill>
              </a:defRPr>
            </a:pPr>
            <a:r>
              <a:t>Department of Computer Science &amp; Engineering • Final Year Tableau Project Presentation Guidelines</a:t>
            </a:r>
          </a:p>
        </p:txBody>
      </p:sp>
      <p:sp>
        <p:nvSpPr>
          <p:cNvPr id="6" name="TextBox 5"/>
          <p:cNvSpPr txBox="1"/>
          <p:nvPr/>
        </p:nvSpPr>
        <p:spPr>
          <a:xfrm>
            <a:off x="10515600" y="6400800"/>
            <a:ext cx="914400" cy="274320"/>
          </a:xfrm>
          <a:prstGeom prst="rect">
            <a:avLst/>
          </a:prstGeom>
          <a:noFill/>
        </p:spPr>
        <p:txBody>
          <a:bodyPr wrap="none" lIns="0" tIns="0" rIns="0" bIns="0">
            <a:spAutoFit/>
          </a:bodyPr>
          <a:lstStyle/>
          <a:p>
            <a:pPr algn="r">
              <a:defRPr sz="900" b="1">
                <a:solidFill>
                  <a:srgbClr val="0284C7"/>
                </a:solidFill>
              </a:defRPr>
            </a:pPr>
            <a:r>
              <a:t>2 / 6</a:t>
            </a:r>
          </a:p>
        </p:txBody>
      </p:sp>
      <p:sp>
        <p:nvSpPr>
          <p:cNvPr id="7" name="Rounded Rectangle 6"/>
          <p:cNvSpPr/>
          <p:nvPr/>
        </p:nvSpPr>
        <p:spPr>
          <a:xfrm>
            <a:off x="731520" y="1645920"/>
            <a:ext cx="5212080"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4846320" cy="4105656"/>
          </a:xfrm>
          <a:prstGeom prst="rect">
            <a:avLst/>
          </a:prstGeom>
          <a:noFill/>
        </p:spPr>
        <p:txBody>
          <a:bodyPr wrap="square" lIns="0" tIns="0" rIns="0" bIns="0">
            <a:spAutoFit/>
          </a:bodyPr>
          <a:lstStyle/>
          <a:p>
            <a:pPr>
              <a:defRPr b="1" sz="1300">
                <a:solidFill>
                  <a:srgbClr val="0F172A"/>
                </a:solidFill>
              </a:defRPr>
            </a:pPr>
            <a:r>
              <a:t>Part A: Context, Problem &amp; Data Foundation (Slides 1–6)</a:t>
            </a:r>
          </a:p>
          <a:p>
            <a:pPr>
              <a:spcAft>
                <a:spcPts val="600"/>
              </a:spcAft>
              <a:defRPr sz="950">
                <a:solidFill>
                  <a:srgbClr val="475569"/>
                </a:solidFill>
              </a:defRPr>
            </a:pPr>
            <a:r>
              <a:t>Foundational structure required by faculty panel</a:t>
            </a:r>
          </a:p>
          <a:p>
            <a:pPr>
              <a:spcAft>
                <a:spcPts val="400"/>
              </a:spcAft>
              <a:defRPr sz="1000" b="1">
                <a:solidFill>
                  <a:srgbClr val="0284C7"/>
                </a:solidFill>
              </a:defRPr>
            </a:pPr>
            <a:r>
              <a:t>• 1. Title Slide: </a:t>
            </a:r>
            <a:r>
              <a:rPr sz="950">
                <a:solidFill>
                  <a:srgbClr val="0F172A"/>
                </a:solidFill>
              </a:rPr>
              <a:t>Project title, student names, PRN/roll numbers, class, and faculty guide name.</a:t>
            </a:r>
          </a:p>
          <a:p>
            <a:pPr>
              <a:spcAft>
                <a:spcPts val="400"/>
              </a:spcAft>
              <a:defRPr sz="1000" b="1">
                <a:solidFill>
                  <a:srgbClr val="0284C7"/>
                </a:solidFill>
              </a:defRPr>
            </a:pPr>
            <a:r>
              <a:t>• 2. Introduction: </a:t>
            </a:r>
            <a:r>
              <a:rPr sz="950">
                <a:solidFill>
                  <a:srgbClr val="0F172A"/>
                </a:solidFill>
              </a:rPr>
              <a:t>Brief overview of the project domain and the specific real-world problem addressed.</a:t>
            </a:r>
          </a:p>
          <a:p>
            <a:pPr>
              <a:spcAft>
                <a:spcPts val="400"/>
              </a:spcAft>
              <a:defRPr sz="1000" b="1">
                <a:solidFill>
                  <a:srgbClr val="0284C7"/>
                </a:solidFill>
              </a:defRPr>
            </a:pPr>
            <a:r>
              <a:t>• 3. Problem Statement: </a:t>
            </a:r>
            <a:r>
              <a:rPr sz="950">
                <a:solidFill>
                  <a:srgbClr val="0F172A"/>
                </a:solidFill>
              </a:rPr>
              <a:t>Clear explanation of the problem, industry gap, and necessity of proposed solution.</a:t>
            </a:r>
          </a:p>
          <a:p>
            <a:pPr>
              <a:spcAft>
                <a:spcPts val="400"/>
              </a:spcAft>
              <a:defRPr sz="1000" b="1">
                <a:solidFill>
                  <a:srgbClr val="0284C7"/>
                </a:solidFill>
              </a:defRPr>
            </a:pPr>
            <a:r>
              <a:t>• 4. Objectives: </a:t>
            </a:r>
            <a:r>
              <a:rPr sz="950">
                <a:solidFill>
                  <a:srgbClr val="0F172A"/>
                </a:solidFill>
              </a:rPr>
              <a:t>List of key technical, analytical, and operational objectives of the project.</a:t>
            </a:r>
          </a:p>
          <a:p>
            <a:pPr>
              <a:spcAft>
                <a:spcPts val="400"/>
              </a:spcAft>
              <a:defRPr sz="1000" b="1">
                <a:solidFill>
                  <a:srgbClr val="0284C7"/>
                </a:solidFill>
              </a:defRPr>
            </a:pPr>
            <a:r>
              <a:t>• 5. Dataset Description: </a:t>
            </a:r>
            <a:r>
              <a:rPr sz="950">
                <a:solidFill>
                  <a:srgbClr val="0F172A"/>
                </a:solidFill>
              </a:rPr>
              <a:t>Dataset source, record count, attributes list, dimensions vs measures categorization.</a:t>
            </a:r>
          </a:p>
          <a:p>
            <a:pPr>
              <a:spcAft>
                <a:spcPts val="400"/>
              </a:spcAft>
              <a:defRPr sz="1000" b="1">
                <a:solidFill>
                  <a:srgbClr val="0284C7"/>
                </a:solidFill>
              </a:defRPr>
            </a:pPr>
            <a:r>
              <a:t>• 6. Data Preprocessing: </a:t>
            </a:r>
            <a:r>
              <a:rPr sz="950">
                <a:solidFill>
                  <a:srgbClr val="0F172A"/>
                </a:solidFill>
              </a:rPr>
              <a:t>Data cleaning, missing value handling, duplicate removal, and data transformations.</a:t>
            </a:r>
          </a:p>
        </p:txBody>
      </p:sp>
      <p:sp>
        <p:nvSpPr>
          <p:cNvPr id="9" name="Rounded Rectangle 8"/>
          <p:cNvSpPr/>
          <p:nvPr/>
        </p:nvSpPr>
        <p:spPr>
          <a:xfrm>
            <a:off x="6248095" y="1645920"/>
            <a:ext cx="5212080"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810512"/>
            <a:ext cx="4846320" cy="4105656"/>
          </a:xfrm>
          <a:prstGeom prst="rect">
            <a:avLst/>
          </a:prstGeom>
          <a:noFill/>
        </p:spPr>
        <p:txBody>
          <a:bodyPr wrap="square" lIns="0" tIns="0" rIns="0" bIns="0">
            <a:spAutoFit/>
          </a:bodyPr>
          <a:lstStyle/>
          <a:p>
            <a:pPr>
              <a:defRPr b="1" sz="1300">
                <a:solidFill>
                  <a:srgbClr val="0F172A"/>
                </a:solidFill>
              </a:defRPr>
            </a:pPr>
            <a:r>
              <a:t>Part B: Visualizations, Findings &amp; Conclusion (Slides 7–12)</a:t>
            </a:r>
          </a:p>
          <a:p>
            <a:pPr>
              <a:spcAft>
                <a:spcPts val="600"/>
              </a:spcAft>
              <a:defRPr sz="950">
                <a:solidFill>
                  <a:srgbClr val="475569"/>
                </a:solidFill>
              </a:defRPr>
            </a:pPr>
            <a:r>
              <a:t>Analytical deliverables and live demonstration alignment</a:t>
            </a:r>
          </a:p>
          <a:p>
            <a:pPr>
              <a:spcAft>
                <a:spcPts val="400"/>
              </a:spcAft>
              <a:defRPr sz="1000" b="1">
                <a:solidFill>
                  <a:srgbClr val="0D9488"/>
                </a:solidFill>
              </a:defRPr>
            </a:pPr>
            <a:r>
              <a:t>• 7. Exploratory Data Analysis (EDA): </a:t>
            </a:r>
            <a:r>
              <a:rPr sz="950">
                <a:solidFill>
                  <a:srgbClr val="0F172A"/>
                </a:solidFill>
              </a:rPr>
              <a:t>Important statistical observations, distributions, correlations, and anomalies.</a:t>
            </a:r>
          </a:p>
          <a:p>
            <a:pPr>
              <a:spcAft>
                <a:spcPts val="400"/>
              </a:spcAft>
              <a:defRPr sz="1000" b="1">
                <a:solidFill>
                  <a:srgbClr val="0D9488"/>
                </a:solidFill>
              </a:defRPr>
            </a:pPr>
            <a:r>
              <a:t>• 8. Tableau Visualizations: </a:t>
            </a:r>
            <a:r>
              <a:rPr sz="950">
                <a:solidFill>
                  <a:srgbClr val="0F172A"/>
                </a:solidFill>
              </a:rPr>
              <a:t>Explanation of charts used (bar, line, scatter, map, histogram) and selection rationale.</a:t>
            </a:r>
          </a:p>
          <a:p>
            <a:pPr>
              <a:spcAft>
                <a:spcPts val="400"/>
              </a:spcAft>
              <a:defRPr sz="1000" b="1">
                <a:solidFill>
                  <a:srgbClr val="0D9488"/>
                </a:solidFill>
              </a:defRPr>
            </a:pPr>
            <a:r>
              <a:t>• 9. Dashboard Design: </a:t>
            </a:r>
            <a:r>
              <a:rPr sz="950">
                <a:solidFill>
                  <a:srgbClr val="0F172A"/>
                </a:solidFill>
              </a:rPr>
              <a:t>Demonstration of dashboard layout, filters, parameters, tooltips, and actions.</a:t>
            </a:r>
          </a:p>
          <a:p>
            <a:pPr>
              <a:spcAft>
                <a:spcPts val="400"/>
              </a:spcAft>
              <a:defRPr sz="1000" b="1">
                <a:solidFill>
                  <a:srgbClr val="0D9488"/>
                </a:solidFill>
              </a:defRPr>
            </a:pPr>
            <a:r>
              <a:t>• 10. Key Findings &amp; Insights: </a:t>
            </a:r>
            <a:r>
              <a:rPr sz="950">
                <a:solidFill>
                  <a:srgbClr val="0F172A"/>
                </a:solidFill>
              </a:rPr>
              <a:t>Meaningful insights discovered with clear explanation of practical significance.</a:t>
            </a:r>
          </a:p>
          <a:p>
            <a:pPr>
              <a:spcAft>
                <a:spcPts val="400"/>
              </a:spcAft>
              <a:defRPr sz="1000" b="1">
                <a:solidFill>
                  <a:srgbClr val="0D9488"/>
                </a:solidFill>
              </a:defRPr>
            </a:pPr>
            <a:r>
              <a:t>• 11. Conclusion &amp; Future Scope: </a:t>
            </a:r>
            <a:r>
              <a:rPr sz="950">
                <a:solidFill>
                  <a:srgbClr val="0F172A"/>
                </a:solidFill>
              </a:rPr>
              <a:t>Summary of project outcomes, limitations, and future technological enhancements.</a:t>
            </a:r>
          </a:p>
          <a:p>
            <a:pPr>
              <a:spcAft>
                <a:spcPts val="400"/>
              </a:spcAft>
              <a:defRPr sz="1000" b="1">
                <a:solidFill>
                  <a:srgbClr val="0D9488"/>
                </a:solidFill>
              </a:defRPr>
            </a:pPr>
            <a:r>
              <a:t>• 12. References: </a:t>
            </a:r>
            <a:r>
              <a:rPr sz="950">
                <a:solidFill>
                  <a:srgbClr val="0F172A"/>
                </a:solidFill>
              </a:rPr>
              <a:t>Sources of datasets, documentation, literature, and external tools utilized.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none" lIns="0" tIns="0" rIns="0" bIns="0">
            <a:spAutoFit/>
          </a:bodyPr>
          <a:lstStyle/>
          <a:p>
            <a:pPr>
              <a:defRPr sz="1000" b="1">
                <a:solidFill>
                  <a:srgbClr val="0284C7"/>
                </a:solidFill>
              </a:defRPr>
            </a:pPr>
            <a:r>
              <a:t>LIVE DEMONSTRATION PROTOCOL</a:t>
            </a:r>
          </a:p>
        </p:txBody>
      </p:sp>
      <p:sp>
        <p:nvSpPr>
          <p:cNvPr id="3" name="TextBox 2"/>
          <p:cNvSpPr txBox="1"/>
          <p:nvPr/>
        </p:nvSpPr>
        <p:spPr>
          <a:xfrm>
            <a:off x="731520" y="685800"/>
            <a:ext cx="10698480" cy="640080"/>
          </a:xfrm>
          <a:prstGeom prst="rect">
            <a:avLst/>
          </a:prstGeom>
          <a:noFill/>
        </p:spPr>
        <p:txBody>
          <a:bodyPr wrap="none" lIns="0" tIns="0" rIns="0" bIns="0">
            <a:spAutoFit/>
          </a:bodyPr>
          <a:lstStyle/>
          <a:p>
            <a:pPr>
              <a:defRPr sz="2400" b="1">
                <a:solidFill>
                  <a:srgbClr val="0F172A"/>
                </a:solidFill>
              </a:defRPr>
            </a:pPr>
            <a:r>
              <a:t>Section 2: Tableau Live Demonstration Rules &amp; Best Practices</a:t>
            </a:r>
          </a:p>
        </p:txBody>
      </p:sp>
      <p:sp>
        <p:nvSpPr>
          <p:cNvPr id="4" name="Rectangle 3"/>
          <p:cNvSpPr/>
          <p:nvPr/>
        </p:nvSpPr>
        <p:spPr>
          <a:xfrm>
            <a:off x="731520" y="137160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601200" cy="274320"/>
          </a:xfrm>
          <a:prstGeom prst="rect">
            <a:avLst/>
          </a:prstGeom>
          <a:noFill/>
        </p:spPr>
        <p:txBody>
          <a:bodyPr wrap="none" lIns="0" tIns="0" rIns="0" bIns="0">
            <a:spAutoFit/>
          </a:bodyPr>
          <a:lstStyle/>
          <a:p>
            <a:pPr>
              <a:defRPr sz="900">
                <a:solidFill>
                  <a:srgbClr val="475569"/>
                </a:solidFill>
              </a:defRPr>
            </a:pPr>
            <a:r>
              <a:t>Department of Computer Science &amp; Engineering • Final Year Tableau Project Presentation Guidelines</a:t>
            </a:r>
          </a:p>
        </p:txBody>
      </p:sp>
      <p:sp>
        <p:nvSpPr>
          <p:cNvPr id="6" name="TextBox 5"/>
          <p:cNvSpPr txBox="1"/>
          <p:nvPr/>
        </p:nvSpPr>
        <p:spPr>
          <a:xfrm>
            <a:off x="10515600" y="6400800"/>
            <a:ext cx="914400" cy="274320"/>
          </a:xfrm>
          <a:prstGeom prst="rect">
            <a:avLst/>
          </a:prstGeom>
          <a:noFill/>
        </p:spPr>
        <p:txBody>
          <a:bodyPr wrap="none" lIns="0" tIns="0" rIns="0" bIns="0">
            <a:spAutoFit/>
          </a:bodyPr>
          <a:lstStyle/>
          <a:p>
            <a:pPr algn="r">
              <a:defRPr sz="900" b="1">
                <a:solidFill>
                  <a:srgbClr val="0284C7"/>
                </a:solidFill>
              </a:defRPr>
            </a:pPr>
            <a:r>
              <a:t>3 / 6</a:t>
            </a:r>
          </a:p>
        </p:txBody>
      </p:sp>
      <p:sp>
        <p:nvSpPr>
          <p:cNvPr id="7" name="Rounded Rectangle 6"/>
          <p:cNvSpPr/>
          <p:nvPr/>
        </p:nvSpPr>
        <p:spPr>
          <a:xfrm>
            <a:off x="731520" y="1645920"/>
            <a:ext cx="5212080"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4846320" cy="4105656"/>
          </a:xfrm>
          <a:prstGeom prst="rect">
            <a:avLst/>
          </a:prstGeom>
          <a:noFill/>
        </p:spPr>
        <p:txBody>
          <a:bodyPr wrap="square" lIns="0" tIns="0" rIns="0" bIns="0">
            <a:spAutoFit/>
          </a:bodyPr>
          <a:lstStyle/>
          <a:p>
            <a:pPr>
              <a:defRPr b="1" sz="1300">
                <a:solidFill>
                  <a:srgbClr val="0F172A"/>
                </a:solidFill>
              </a:defRPr>
            </a:pPr>
            <a:r>
              <a:t>Live Dashboard Execution Mandates</a:t>
            </a:r>
          </a:p>
          <a:p>
            <a:pPr>
              <a:spcAft>
                <a:spcPts val="600"/>
              </a:spcAft>
              <a:defRPr sz="950">
                <a:solidFill>
                  <a:srgbClr val="475569"/>
                </a:solidFill>
              </a:defRPr>
            </a:pPr>
            <a:r>
              <a:t>Essential requirements during live presentation</a:t>
            </a:r>
          </a:p>
          <a:p>
            <a:pPr>
              <a:defRPr sz="1100" b="1">
                <a:solidFill>
                  <a:srgbClr val="0284C7"/>
                </a:solidFill>
              </a:defRPr>
            </a:pPr>
            <a:r>
              <a:t>✔ Live Demonstration Required</a:t>
            </a:r>
          </a:p>
          <a:p>
            <a:pPr>
              <a:spcAft>
                <a:spcPts val="600"/>
              </a:spcAft>
              <a:defRPr sz="950">
                <a:solidFill>
                  <a:srgbClr val="0F172A"/>
                </a:solidFill>
              </a:defRPr>
            </a:pPr>
            <a:r>
              <a:t>Students MUST run and demonstrate a working Tableau dashboard during the presentation session; static screenshots alone are not acceptable.</a:t>
            </a:r>
          </a:p>
          <a:p>
            <a:pPr>
              <a:defRPr sz="1100" b="1">
                <a:solidFill>
                  <a:srgbClr val="0284C7"/>
                </a:solidFill>
              </a:defRPr>
            </a:pPr>
            <a:r>
              <a:t>✔ Visual Alignment to Objectives</a:t>
            </a:r>
          </a:p>
          <a:p>
            <a:pPr>
              <a:spcAft>
                <a:spcPts val="600"/>
              </a:spcAft>
              <a:defRPr sz="950">
                <a:solidFill>
                  <a:srgbClr val="0F172A"/>
                </a:solidFill>
              </a:defRPr>
            </a:pPr>
            <a:r>
              <a:t>Every chart and metric displayed on the dashboard must directly connect to stated project goals.</a:t>
            </a:r>
          </a:p>
          <a:p>
            <a:pPr>
              <a:defRPr sz="1100" b="1">
                <a:solidFill>
                  <a:srgbClr val="0284C7"/>
                </a:solidFill>
              </a:defRPr>
            </a:pPr>
            <a:r>
              <a:t>✔ Chart Types &amp; Semantics</a:t>
            </a:r>
          </a:p>
          <a:p>
            <a:pPr>
              <a:spcAft>
                <a:spcPts val="600"/>
              </a:spcAft>
              <a:defRPr sz="950">
                <a:solidFill>
                  <a:srgbClr val="0F172A"/>
                </a:solidFill>
              </a:defRPr>
            </a:pPr>
            <a:r>
              <a:t>Use appropriate chart types (e.g. line for trends, bars for categories, maps for geography) with clear titles, axis labels, legends, and color palettes.</a:t>
            </a:r>
          </a:p>
          <a:p>
            <a:pPr>
              <a:defRPr sz="1100" b="1">
                <a:solidFill>
                  <a:srgbClr val="0284C7"/>
                </a:solidFill>
              </a:defRPr>
            </a:pPr>
            <a:r>
              <a:t>✔ Justify Visualization Choices</a:t>
            </a:r>
          </a:p>
          <a:p>
            <a:pPr>
              <a:spcAft>
                <a:spcPts val="600"/>
              </a:spcAft>
              <a:defRPr sz="950">
                <a:solidFill>
                  <a:srgbClr val="0F172A"/>
                </a:solidFill>
              </a:defRPr>
            </a:pPr>
            <a:r>
              <a:t>Be prepared to explain WHY each visualization was selected and WHAT specific analytical insight it communicates.</a:t>
            </a:r>
          </a:p>
        </p:txBody>
      </p:sp>
      <p:sp>
        <p:nvSpPr>
          <p:cNvPr id="9" name="Rounded Rectangle 8"/>
          <p:cNvSpPr/>
          <p:nvPr/>
        </p:nvSpPr>
        <p:spPr>
          <a:xfrm>
            <a:off x="6248095" y="1645920"/>
            <a:ext cx="5212080"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810512"/>
            <a:ext cx="4846320" cy="4105656"/>
          </a:xfrm>
          <a:prstGeom prst="rect">
            <a:avLst/>
          </a:prstGeom>
          <a:noFill/>
        </p:spPr>
        <p:txBody>
          <a:bodyPr wrap="square" lIns="0" tIns="0" rIns="0" bIns="0">
            <a:spAutoFit/>
          </a:bodyPr>
          <a:lstStyle/>
          <a:p>
            <a:pPr>
              <a:defRPr b="1" sz="1300">
                <a:solidFill>
                  <a:srgbClr val="0F172A"/>
                </a:solidFill>
              </a:defRPr>
            </a:pPr>
            <a:r>
              <a:t>Interactivity, Layout &amp; Usability Standards</a:t>
            </a:r>
          </a:p>
          <a:p>
            <a:pPr>
              <a:spcAft>
                <a:spcPts val="600"/>
              </a:spcAft>
              <a:defRPr sz="950">
                <a:solidFill>
                  <a:srgbClr val="475569"/>
                </a:solidFill>
              </a:defRPr>
            </a:pPr>
            <a:r>
              <a:t>Cognitive design and technical execution</a:t>
            </a:r>
          </a:p>
          <a:p>
            <a:pPr>
              <a:defRPr sz="1100" b="1">
                <a:solidFill>
                  <a:srgbClr val="0D9488"/>
                </a:solidFill>
              </a:defRPr>
            </a:pPr>
            <a:r>
              <a:t>✔ Working Interactivity &amp; Actions</a:t>
            </a:r>
          </a:p>
          <a:p>
            <a:pPr>
              <a:spcAft>
                <a:spcPts val="600"/>
              </a:spcAft>
              <a:defRPr sz="950">
                <a:solidFill>
                  <a:srgbClr val="0F172A"/>
                </a:solidFill>
              </a:defRPr>
            </a:pPr>
            <a:r>
              <a:t>Ensure all dashboard filters, parameters, hover tooltips, and dashboard action cross-filters function properly without errors or lag.</a:t>
            </a:r>
          </a:p>
          <a:p>
            <a:pPr>
              <a:defRPr sz="1100" b="1">
                <a:solidFill>
                  <a:srgbClr val="0D9488"/>
                </a:solidFill>
              </a:defRPr>
            </a:pPr>
            <a:r>
              <a:t>✔ Clear &amp; Professional Layout</a:t>
            </a:r>
          </a:p>
          <a:p>
            <a:pPr>
              <a:spcAft>
                <a:spcPts val="600"/>
              </a:spcAft>
              <a:defRPr sz="950">
                <a:solidFill>
                  <a:srgbClr val="0F172A"/>
                </a:solidFill>
              </a:defRPr>
            </a:pPr>
            <a:r>
              <a:t>Maintain a consistent, professional layout adhering to visual hierarchy (KPI cards at top, detailed views below).</a:t>
            </a:r>
          </a:p>
          <a:p>
            <a:pPr>
              <a:defRPr sz="1100" b="1">
                <a:solidFill>
                  <a:srgbClr val="0D9488"/>
                </a:solidFill>
              </a:defRPr>
            </a:pPr>
            <a:r>
              <a:t>✔ Strictly Avoid Overcrowding</a:t>
            </a:r>
          </a:p>
          <a:p>
            <a:pPr>
              <a:spcAft>
                <a:spcPts val="600"/>
              </a:spcAft>
              <a:defRPr sz="950">
                <a:solidFill>
                  <a:srgbClr val="0F172A"/>
                </a:solidFill>
              </a:defRPr>
            </a:pPr>
            <a:r>
              <a:t>Avoid overcrowding dashboards with unnecessary charts or redundant data. Prioritize clarity over clutter.</a:t>
            </a:r>
          </a:p>
          <a:p>
            <a:pPr>
              <a:defRPr sz="1100" b="1">
                <a:solidFill>
                  <a:srgbClr val="0D9488"/>
                </a:solidFill>
              </a:defRPr>
            </a:pPr>
            <a:r>
              <a:t>✔ Insight-Driven Communication</a:t>
            </a:r>
          </a:p>
          <a:p>
            <a:pPr>
              <a:spcAft>
                <a:spcPts val="600"/>
              </a:spcAft>
              <a:defRPr sz="950">
                <a:solidFill>
                  <a:srgbClr val="0F172A"/>
                </a:solidFill>
              </a:defRPr>
            </a:pPr>
            <a:r>
              <a:t>Focus explanation on data interpretation rather than just listing UI elements.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none" lIns="0" tIns="0" rIns="0" bIns="0">
            <a:spAutoFit/>
          </a:bodyPr>
          <a:lstStyle/>
          <a:p>
            <a:pPr>
              <a:defRPr sz="1000" b="1">
                <a:solidFill>
                  <a:srgbClr val="0284C7"/>
                </a:solidFill>
              </a:defRPr>
            </a:pPr>
            <a:r>
              <a:t>ORAL DELIVERY STANDARDS</a:t>
            </a:r>
          </a:p>
        </p:txBody>
      </p:sp>
      <p:sp>
        <p:nvSpPr>
          <p:cNvPr id="3" name="TextBox 2"/>
          <p:cNvSpPr txBox="1"/>
          <p:nvPr/>
        </p:nvSpPr>
        <p:spPr>
          <a:xfrm>
            <a:off x="731520" y="685800"/>
            <a:ext cx="10698480" cy="640080"/>
          </a:xfrm>
          <a:prstGeom prst="rect">
            <a:avLst/>
          </a:prstGeom>
          <a:noFill/>
        </p:spPr>
        <p:txBody>
          <a:bodyPr wrap="none" lIns="0" tIns="0" rIns="0" bIns="0">
            <a:spAutoFit/>
          </a:bodyPr>
          <a:lstStyle/>
          <a:p>
            <a:pPr>
              <a:defRPr sz="2400" b="1">
                <a:solidFill>
                  <a:srgbClr val="0F172A"/>
                </a:solidFill>
              </a:defRPr>
            </a:pPr>
            <a:r>
              <a:t>Section 3: Presentation Delivery &amp; Team Conduct Guidelines</a:t>
            </a:r>
          </a:p>
        </p:txBody>
      </p:sp>
      <p:sp>
        <p:nvSpPr>
          <p:cNvPr id="4" name="Rectangle 3"/>
          <p:cNvSpPr/>
          <p:nvPr/>
        </p:nvSpPr>
        <p:spPr>
          <a:xfrm>
            <a:off x="731520" y="137160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601200" cy="274320"/>
          </a:xfrm>
          <a:prstGeom prst="rect">
            <a:avLst/>
          </a:prstGeom>
          <a:noFill/>
        </p:spPr>
        <p:txBody>
          <a:bodyPr wrap="none" lIns="0" tIns="0" rIns="0" bIns="0">
            <a:spAutoFit/>
          </a:bodyPr>
          <a:lstStyle/>
          <a:p>
            <a:pPr>
              <a:defRPr sz="900">
                <a:solidFill>
                  <a:srgbClr val="475569"/>
                </a:solidFill>
              </a:defRPr>
            </a:pPr>
            <a:r>
              <a:t>Department of Computer Science &amp; Engineering • Final Year Tableau Project Presentation Guidelines</a:t>
            </a:r>
          </a:p>
        </p:txBody>
      </p:sp>
      <p:sp>
        <p:nvSpPr>
          <p:cNvPr id="6" name="TextBox 5"/>
          <p:cNvSpPr txBox="1"/>
          <p:nvPr/>
        </p:nvSpPr>
        <p:spPr>
          <a:xfrm>
            <a:off x="10515600" y="6400800"/>
            <a:ext cx="914400" cy="274320"/>
          </a:xfrm>
          <a:prstGeom prst="rect">
            <a:avLst/>
          </a:prstGeom>
          <a:noFill/>
        </p:spPr>
        <p:txBody>
          <a:bodyPr wrap="none" lIns="0" tIns="0" rIns="0" bIns="0">
            <a:spAutoFit/>
          </a:bodyPr>
          <a:lstStyle/>
          <a:p>
            <a:pPr algn="r">
              <a:defRPr sz="900" b="1">
                <a:solidFill>
                  <a:srgbClr val="0284C7"/>
                </a:solidFill>
              </a:defRPr>
            </a:pPr>
            <a:r>
              <a:t>4 / 6</a:t>
            </a:r>
          </a:p>
        </p:txBody>
      </p:sp>
      <p:sp>
        <p:nvSpPr>
          <p:cNvPr id="7" name="Rounded Rectangle 6"/>
          <p:cNvSpPr/>
          <p:nvPr/>
        </p:nvSpPr>
        <p:spPr>
          <a:xfrm>
            <a:off x="731520" y="1645920"/>
            <a:ext cx="3328416"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2962656" cy="4105656"/>
          </a:xfrm>
          <a:prstGeom prst="rect">
            <a:avLst/>
          </a:prstGeom>
          <a:noFill/>
        </p:spPr>
        <p:txBody>
          <a:bodyPr wrap="square" lIns="0" tIns="0" rIns="0" bIns="0">
            <a:spAutoFit/>
          </a:bodyPr>
          <a:lstStyle/>
          <a:p>
            <a:pPr>
              <a:defRPr b="1" sz="1300">
                <a:solidFill>
                  <a:srgbClr val="0F172A"/>
                </a:solidFill>
              </a:defRPr>
            </a:pPr>
            <a:r>
              <a:t>1. Teamwork &amp; Participation</a:t>
            </a:r>
          </a:p>
          <a:p>
            <a:pPr>
              <a:spcAft>
                <a:spcPts val="600"/>
              </a:spcAft>
              <a:defRPr sz="950">
                <a:solidFill>
                  <a:srgbClr val="475569"/>
                </a:solidFill>
              </a:defRPr>
            </a:pPr>
            <a:r>
              <a:t>Equal Contribution</a:t>
            </a:r>
          </a:p>
          <a:p>
            <a:pPr>
              <a:defRPr sz="1050">
                <a:solidFill>
                  <a:srgbClr val="0F172A"/>
                </a:solidFill>
              </a:defRPr>
            </a:pPr>
            <a:r>
              <a:t>• Every team member must actively participate in oral delivery.</a:t>
            </a:r>
            <a:br/>
            <a:br/>
            <a:r>
              <a:t>• Each student must demonstrate a thorough individual understanding of the dataset, transformations, and dashboard.</a:t>
            </a:r>
            <a:br/>
            <a:br/>
            <a:r>
              <a:t>• Faculty will cross-question individual students on their specific contributions.</a:t>
            </a:r>
          </a:p>
        </p:txBody>
      </p:sp>
      <p:sp>
        <p:nvSpPr>
          <p:cNvPr id="9" name="Rounded Rectangle 8"/>
          <p:cNvSpPr/>
          <p:nvPr/>
        </p:nvSpPr>
        <p:spPr>
          <a:xfrm>
            <a:off x="4379976" y="1645920"/>
            <a:ext cx="3328416"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1810512"/>
            <a:ext cx="2962656" cy="4105656"/>
          </a:xfrm>
          <a:prstGeom prst="rect">
            <a:avLst/>
          </a:prstGeom>
          <a:noFill/>
        </p:spPr>
        <p:txBody>
          <a:bodyPr wrap="square" lIns="0" tIns="0" rIns="0" bIns="0">
            <a:spAutoFit/>
          </a:bodyPr>
          <a:lstStyle/>
          <a:p>
            <a:pPr>
              <a:defRPr b="1" sz="1300">
                <a:solidFill>
                  <a:srgbClr val="0F172A"/>
                </a:solidFill>
              </a:defRPr>
            </a:pPr>
            <a:r>
              <a:t>2. Delivery &amp; Communication</a:t>
            </a:r>
          </a:p>
          <a:p>
            <a:pPr>
              <a:spcAft>
                <a:spcPts val="600"/>
              </a:spcAft>
              <a:defRPr sz="950">
                <a:solidFill>
                  <a:srgbClr val="475569"/>
                </a:solidFill>
              </a:defRPr>
            </a:pPr>
            <a:r>
              <a:t>Clarity &amp; Confidence</a:t>
            </a:r>
          </a:p>
          <a:p>
            <a:pPr>
              <a:defRPr sz="1050">
                <a:solidFill>
                  <a:srgbClr val="0F172A"/>
                </a:solidFill>
              </a:defRPr>
            </a:pPr>
            <a:r>
              <a:t>• Speak in your own words rather than reading bullet points verbatim from slides.</a:t>
            </a:r>
            <a:br/>
            <a:br/>
            <a:r>
              <a:t>• Use clear, concise, and technically accurate terminology (dimensions, measures, LOD, calculated fields).</a:t>
            </a:r>
            <a:br/>
            <a:br/>
            <a:r>
              <a:t>• Ensure the slide deck is logically ordered, uncluttered, and aesthetically pleasing.</a:t>
            </a:r>
          </a:p>
        </p:txBody>
      </p:sp>
      <p:sp>
        <p:nvSpPr>
          <p:cNvPr id="11" name="Rounded Rectangle 10"/>
          <p:cNvSpPr/>
          <p:nvPr/>
        </p:nvSpPr>
        <p:spPr>
          <a:xfrm>
            <a:off x="8028432" y="1645920"/>
            <a:ext cx="3328416"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1810512"/>
            <a:ext cx="2962656" cy="4105656"/>
          </a:xfrm>
          <a:prstGeom prst="rect">
            <a:avLst/>
          </a:prstGeom>
          <a:noFill/>
        </p:spPr>
        <p:txBody>
          <a:bodyPr wrap="square" lIns="0" tIns="0" rIns="0" bIns="0">
            <a:spAutoFit/>
          </a:bodyPr>
          <a:lstStyle/>
          <a:p>
            <a:pPr>
              <a:defRPr b="1" sz="1300">
                <a:solidFill>
                  <a:srgbClr val="0F172A"/>
                </a:solidFill>
              </a:defRPr>
            </a:pPr>
            <a:r>
              <a:t>3. Time &amp; Q&amp;A Readiness</a:t>
            </a:r>
          </a:p>
          <a:p>
            <a:pPr>
              <a:spcAft>
                <a:spcPts val="600"/>
              </a:spcAft>
              <a:defRPr sz="950">
                <a:solidFill>
                  <a:srgbClr val="475569"/>
                </a:solidFill>
              </a:defRPr>
            </a:pPr>
            <a:r>
              <a:t>Professional Execution</a:t>
            </a:r>
          </a:p>
          <a:p>
            <a:pPr>
              <a:defRPr sz="1050">
                <a:solidFill>
                  <a:srgbClr val="0F172A"/>
                </a:solidFill>
              </a:defRPr>
            </a:pPr>
            <a:r>
              <a:t>• Keep the entire presentation and live demonstration strictly within the faculty allotted time.</a:t>
            </a:r>
            <a:br/>
            <a:br/>
            <a:r>
              <a:t>• Rehearse transitions between team members and live dashboard switching.</a:t>
            </a:r>
            <a:br/>
            <a:br/>
            <a:r>
              <a:t>• Prepare thoroughly for technical Q&amp;A on preprocessing, formulas, visual trade-offs, and findings.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none" lIns="0" tIns="0" rIns="0" bIns="0">
            <a:spAutoFit/>
          </a:bodyPr>
          <a:lstStyle/>
          <a:p>
            <a:pPr>
              <a:defRPr sz="1000" b="1">
                <a:solidFill>
                  <a:srgbClr val="0284C7"/>
                </a:solidFill>
              </a:defRPr>
            </a:pPr>
            <a:r>
              <a:t>READINESS &amp; VERIFICATION</a:t>
            </a:r>
          </a:p>
        </p:txBody>
      </p:sp>
      <p:sp>
        <p:nvSpPr>
          <p:cNvPr id="3" name="TextBox 2"/>
          <p:cNvSpPr txBox="1"/>
          <p:nvPr/>
        </p:nvSpPr>
        <p:spPr>
          <a:xfrm>
            <a:off x="731520" y="685800"/>
            <a:ext cx="10698480" cy="640080"/>
          </a:xfrm>
          <a:prstGeom prst="rect">
            <a:avLst/>
          </a:prstGeom>
          <a:noFill/>
        </p:spPr>
        <p:txBody>
          <a:bodyPr wrap="none" lIns="0" tIns="0" rIns="0" bIns="0">
            <a:spAutoFit/>
          </a:bodyPr>
          <a:lstStyle/>
          <a:p>
            <a:pPr>
              <a:defRPr sz="2400" b="1">
                <a:solidFill>
                  <a:srgbClr val="0F172A"/>
                </a:solidFill>
              </a:defRPr>
            </a:pPr>
            <a:r>
              <a:t>Section 4: Technical Requirements &amp; Academic Integrity</a:t>
            </a:r>
          </a:p>
        </p:txBody>
      </p:sp>
      <p:sp>
        <p:nvSpPr>
          <p:cNvPr id="4" name="Rectangle 3"/>
          <p:cNvSpPr/>
          <p:nvPr/>
        </p:nvSpPr>
        <p:spPr>
          <a:xfrm>
            <a:off x="731520" y="1371600"/>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9601200" cy="274320"/>
          </a:xfrm>
          <a:prstGeom prst="rect">
            <a:avLst/>
          </a:prstGeom>
          <a:noFill/>
        </p:spPr>
        <p:txBody>
          <a:bodyPr wrap="none" lIns="0" tIns="0" rIns="0" bIns="0">
            <a:spAutoFit/>
          </a:bodyPr>
          <a:lstStyle/>
          <a:p>
            <a:pPr>
              <a:defRPr sz="900">
                <a:solidFill>
                  <a:srgbClr val="475569"/>
                </a:solidFill>
              </a:defRPr>
            </a:pPr>
            <a:r>
              <a:t>Department of Computer Science &amp; Engineering • Final Year Tableau Project Presentation Guidelines</a:t>
            </a:r>
          </a:p>
        </p:txBody>
      </p:sp>
      <p:sp>
        <p:nvSpPr>
          <p:cNvPr id="6" name="TextBox 5"/>
          <p:cNvSpPr txBox="1"/>
          <p:nvPr/>
        </p:nvSpPr>
        <p:spPr>
          <a:xfrm>
            <a:off x="10515600" y="6400800"/>
            <a:ext cx="914400" cy="274320"/>
          </a:xfrm>
          <a:prstGeom prst="rect">
            <a:avLst/>
          </a:prstGeom>
          <a:noFill/>
        </p:spPr>
        <p:txBody>
          <a:bodyPr wrap="none" lIns="0" tIns="0" rIns="0" bIns="0">
            <a:spAutoFit/>
          </a:bodyPr>
          <a:lstStyle/>
          <a:p>
            <a:pPr algn="r">
              <a:defRPr sz="900" b="1">
                <a:solidFill>
                  <a:srgbClr val="0284C7"/>
                </a:solidFill>
              </a:defRPr>
            </a:pPr>
            <a:r>
              <a:t>5 / 6</a:t>
            </a:r>
          </a:p>
        </p:txBody>
      </p:sp>
      <p:sp>
        <p:nvSpPr>
          <p:cNvPr id="7" name="Rounded Rectangle 6"/>
          <p:cNvSpPr/>
          <p:nvPr/>
        </p:nvSpPr>
        <p:spPr>
          <a:xfrm>
            <a:off x="731520" y="1645920"/>
            <a:ext cx="5212080"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4846320" cy="4105656"/>
          </a:xfrm>
          <a:prstGeom prst="rect">
            <a:avLst/>
          </a:prstGeom>
          <a:noFill/>
        </p:spPr>
        <p:txBody>
          <a:bodyPr wrap="square" lIns="0" tIns="0" rIns="0" bIns="0">
            <a:spAutoFit/>
          </a:bodyPr>
          <a:lstStyle/>
          <a:p>
            <a:pPr>
              <a:defRPr b="1" sz="1300">
                <a:solidFill>
                  <a:srgbClr val="0F172A"/>
                </a:solidFill>
              </a:defRPr>
            </a:pPr>
            <a:r>
              <a:t>Pre-Presentation Technical Verification</a:t>
            </a:r>
          </a:p>
          <a:p>
            <a:pPr>
              <a:spcAft>
                <a:spcPts val="600"/>
              </a:spcAft>
              <a:defRPr sz="950">
                <a:solidFill>
                  <a:srgbClr val="475569"/>
                </a:solidFill>
              </a:defRPr>
            </a:pPr>
            <a:r>
              <a:t>Ensuring zero technical glitches on presentation day</a:t>
            </a:r>
          </a:p>
          <a:p>
            <a:pPr>
              <a:defRPr sz="1100" b="1">
                <a:solidFill>
                  <a:srgbClr val="0284C7"/>
                </a:solidFill>
              </a:defRPr>
            </a:pPr>
            <a:r>
              <a:t>• Pre-Test Workbook &amp; Data Connectivity</a:t>
            </a:r>
          </a:p>
          <a:p>
            <a:pPr>
              <a:spcAft>
                <a:spcPts val="600"/>
              </a:spcAft>
              <a:defRPr sz="950">
                <a:solidFill>
                  <a:srgbClr val="0F172A"/>
                </a:solidFill>
              </a:defRPr>
            </a:pPr>
            <a:r>
              <a:t>Verify that the Tableau workbook opens and runs properly before entering the presentation room. Ensure datasets are accessible and all charts render instantly.</a:t>
            </a:r>
          </a:p>
          <a:p>
            <a:pPr>
              <a:defRPr sz="1100" b="1">
                <a:solidFill>
                  <a:srgbClr val="0284C7"/>
                </a:solidFill>
              </a:defRPr>
            </a:pPr>
            <a:r>
              <a:t>• Maintain Complete Backups</a:t>
            </a:r>
          </a:p>
          <a:p>
            <a:pPr>
              <a:spcAft>
                <a:spcPts val="600"/>
              </a:spcAft>
              <a:defRPr sz="950">
                <a:solidFill>
                  <a:srgbClr val="0F172A"/>
                </a:solidFill>
              </a:defRPr>
            </a:pPr>
            <a:r>
              <a:t>Keep reliable backups of the Tableau packaged workbook (.twbx or .twb) and the underlying dataset CSV/Excel on local drive and USB flash drive.</a:t>
            </a:r>
          </a:p>
          <a:p>
            <a:pPr>
              <a:defRPr sz="1100" b="1">
                <a:solidFill>
                  <a:srgbClr val="0284C7"/>
                </a:solidFill>
              </a:defRPr>
            </a:pPr>
            <a:r>
              <a:t>• Pre-Test Interactive Actions</a:t>
            </a:r>
          </a:p>
          <a:p>
            <a:pPr>
              <a:spcAft>
                <a:spcPts val="600"/>
              </a:spcAft>
              <a:defRPr sz="950">
                <a:solidFill>
                  <a:srgbClr val="0F172A"/>
                </a:solidFill>
              </a:defRPr>
            </a:pPr>
            <a:r>
              <a:t>Test all filter actions, parameters, and drill-downs in advance on the presentation machine/display resolution.</a:t>
            </a:r>
          </a:p>
        </p:txBody>
      </p:sp>
      <p:sp>
        <p:nvSpPr>
          <p:cNvPr id="9" name="Rounded Rectangle 8"/>
          <p:cNvSpPr/>
          <p:nvPr/>
        </p:nvSpPr>
        <p:spPr>
          <a:xfrm>
            <a:off x="6248095" y="1645920"/>
            <a:ext cx="5212080" cy="44348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810512"/>
            <a:ext cx="4846320" cy="4105656"/>
          </a:xfrm>
          <a:prstGeom prst="rect">
            <a:avLst/>
          </a:prstGeom>
          <a:noFill/>
        </p:spPr>
        <p:txBody>
          <a:bodyPr wrap="square" lIns="0" tIns="0" rIns="0" bIns="0">
            <a:spAutoFit/>
          </a:bodyPr>
          <a:lstStyle/>
          <a:p>
            <a:pPr>
              <a:defRPr b="1" sz="1300">
                <a:solidFill>
                  <a:srgbClr val="0F172A"/>
                </a:solidFill>
              </a:defRPr>
            </a:pPr>
            <a:r>
              <a:t>Academic Integrity &amp; Authorship Mandate</a:t>
            </a:r>
          </a:p>
          <a:p>
            <a:pPr>
              <a:spcAft>
                <a:spcPts val="600"/>
              </a:spcAft>
              <a:defRPr sz="950">
                <a:solidFill>
                  <a:srgbClr val="475569"/>
                </a:solidFill>
              </a:defRPr>
            </a:pPr>
            <a:r>
              <a:t>Strict zero-tolerance on copied work</a:t>
            </a:r>
          </a:p>
          <a:p>
            <a:pPr>
              <a:defRPr sz="1100" b="1">
                <a:solidFill>
                  <a:srgbClr val="E11D48"/>
                </a:solidFill>
              </a:defRPr>
            </a:pPr>
            <a:r>
              <a:t>• Clear Dataset &amp; Resource Attribution</a:t>
            </a:r>
          </a:p>
          <a:p>
            <a:pPr>
              <a:spcAft>
                <a:spcPts val="600"/>
              </a:spcAft>
              <a:defRPr sz="950">
                <a:solidFill>
                  <a:srgbClr val="0F172A"/>
                </a:solidFill>
              </a:defRPr>
            </a:pPr>
            <a:r>
              <a:t>Clearly acknowledge all dataset sources, research citations, tutorials, and third-party tools utilized in the project on the References slide.</a:t>
            </a:r>
          </a:p>
          <a:p>
            <a:pPr>
              <a:defRPr sz="1100" b="1">
                <a:solidFill>
                  <a:srgbClr val="E11D48"/>
                </a:solidFill>
              </a:defRPr>
            </a:pPr>
            <a:r>
              <a:t>• Demonstrate Original Implementation</a:t>
            </a:r>
          </a:p>
          <a:p>
            <a:pPr>
              <a:spcAft>
                <a:spcPts val="600"/>
              </a:spcAft>
              <a:defRPr sz="950">
                <a:solidFill>
                  <a:srgbClr val="0F172A"/>
                </a:solidFill>
              </a:defRPr>
            </a:pPr>
            <a:r>
              <a:t>Be fully prepared to explain your own implementation step-by-step. Students must NOT present copied or uncredited work as their original contribution.</a:t>
            </a:r>
          </a:p>
          <a:p>
            <a:pPr>
              <a:defRPr sz="1100" b="1">
                <a:solidFill>
                  <a:srgbClr val="E11D48"/>
                </a:solidFill>
              </a:defRPr>
            </a:pPr>
            <a:r>
              <a:t>• Individual Defense</a:t>
            </a:r>
          </a:p>
          <a:p>
            <a:pPr>
              <a:spcAft>
                <a:spcPts val="600"/>
              </a:spcAft>
              <a:defRPr sz="950">
                <a:solidFill>
                  <a:srgbClr val="0F172A"/>
                </a:solidFill>
              </a:defRPr>
            </a:pPr>
            <a:r>
              <a:t>Panels will verify code, calculated fields, and dashboard construction to ensure authentic student authorship.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none" lIns="0" tIns="0" rIns="0" bIns="0">
            <a:spAutoFit/>
          </a:bodyPr>
          <a:lstStyle/>
          <a:p>
            <a:pPr>
              <a:defRPr sz="1000" b="1">
                <a:solidFill>
                  <a:srgbClr val="0D9488"/>
                </a:solidFill>
              </a:defRPr>
            </a:pPr>
            <a:r>
              <a:t>SECTION 5: EVALUATION CRITERIA &amp; RUBRIC</a:t>
            </a:r>
          </a:p>
        </p:txBody>
      </p:sp>
      <p:sp>
        <p:nvSpPr>
          <p:cNvPr id="3" name="TextBox 2"/>
          <p:cNvSpPr txBox="1"/>
          <p:nvPr/>
        </p:nvSpPr>
        <p:spPr>
          <a:xfrm>
            <a:off x="731520" y="685800"/>
            <a:ext cx="10698480" cy="640080"/>
          </a:xfrm>
          <a:prstGeom prst="rect">
            <a:avLst/>
          </a:prstGeom>
          <a:noFill/>
        </p:spPr>
        <p:txBody>
          <a:bodyPr wrap="none" lIns="0" tIns="0" rIns="0" bIns="0">
            <a:spAutoFit/>
          </a:bodyPr>
          <a:lstStyle/>
          <a:p>
            <a:pPr>
              <a:defRPr sz="2400" b="1">
                <a:solidFill>
                  <a:srgbClr val="FFFFFF"/>
                </a:solidFill>
              </a:defRPr>
            </a:pPr>
            <a:r>
              <a:t>Faculty Grading Rubric &amp; Assessment Matrix</a:t>
            </a:r>
          </a:p>
        </p:txBody>
      </p:sp>
      <p:sp>
        <p:nvSpPr>
          <p:cNvPr id="4" name="Rounded Rectangle 3"/>
          <p:cNvSpPr/>
          <p:nvPr/>
        </p:nvSpPr>
        <p:spPr>
          <a:xfrm>
            <a:off x="731520" y="1463040"/>
            <a:ext cx="10728655" cy="34747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ctr">
              <a:spcAft>
                <a:spcPts val="800"/>
              </a:spcAft>
              <a:defRPr sz="1100" b="1">
                <a:solidFill>
                  <a:srgbClr val="EAB308"/>
                </a:solidFill>
              </a:defRPr>
            </a:pPr>
            <a:r>
              <a:t>THE 7 EVALUATION PILLARS ASSESSED BY FACULTY PANEL</a:t>
            </a:r>
          </a:p>
          <a:p>
            <a:pPr>
              <a:spcAft>
                <a:spcPts val="300"/>
              </a:spcAft>
              <a:defRPr sz="1050" b="1">
                <a:solidFill>
                  <a:srgbClr val="0D9488"/>
                </a:solidFill>
              </a:defRPr>
            </a:pPr>
            <a:r>
              <a:t>• 1. Problem Definition &amp; Project Objectives: </a:t>
            </a:r>
            <a:r>
              <a:rPr sz="1000">
                <a:solidFill>
                  <a:srgbClr val="FFFFFF"/>
                </a:solidFill>
              </a:rPr>
              <a:t>Clarity of project scope, domain significance, and measurable goals.</a:t>
            </a:r>
          </a:p>
          <a:p>
            <a:pPr>
              <a:spcAft>
                <a:spcPts val="300"/>
              </a:spcAft>
              <a:defRPr sz="1050" b="1">
                <a:solidFill>
                  <a:srgbClr val="0D9488"/>
                </a:solidFill>
              </a:defRPr>
            </a:pPr>
            <a:r>
              <a:t>• 2. Dataset Understanding &amp; Preprocessing: </a:t>
            </a:r>
            <a:r>
              <a:rPr sz="1000">
                <a:solidFill>
                  <a:srgbClr val="FFFFFF"/>
                </a:solidFill>
              </a:rPr>
              <a:t>Data cleaning rigor, null/duplicate handling, transformations, and calculated field creation.</a:t>
            </a:r>
          </a:p>
          <a:p>
            <a:pPr>
              <a:spcAft>
                <a:spcPts val="300"/>
              </a:spcAft>
              <a:defRPr sz="1050" b="1">
                <a:solidFill>
                  <a:srgbClr val="0D9488"/>
                </a:solidFill>
              </a:defRPr>
            </a:pPr>
            <a:r>
              <a:t>• 3. Appropriateness &amp; Correctness of Visualizations: </a:t>
            </a:r>
            <a:r>
              <a:rPr sz="1000">
                <a:solidFill>
                  <a:srgbClr val="FFFFFF"/>
                </a:solidFill>
              </a:rPr>
              <a:t>Selecting the right chart types, axis scales, legends, and avoiding misleading charts.</a:t>
            </a:r>
          </a:p>
          <a:p>
            <a:pPr>
              <a:spcAft>
                <a:spcPts val="300"/>
              </a:spcAft>
              <a:defRPr sz="1050" b="1">
                <a:solidFill>
                  <a:srgbClr val="0D9488"/>
                </a:solidFill>
              </a:defRPr>
            </a:pPr>
            <a:r>
              <a:t>• 4. Dashboard Design &amp; Interactivity: </a:t>
            </a:r>
            <a:r>
              <a:rPr sz="1000">
                <a:solidFill>
                  <a:srgbClr val="FFFFFF"/>
                </a:solidFill>
              </a:rPr>
              <a:t>Logical layout hierarchy, filter synchronization, responsive actions, and uncluttered design.</a:t>
            </a:r>
          </a:p>
          <a:p>
            <a:pPr>
              <a:spcAft>
                <a:spcPts val="300"/>
              </a:spcAft>
              <a:defRPr sz="1050" b="1">
                <a:solidFill>
                  <a:srgbClr val="0D9488"/>
                </a:solidFill>
              </a:defRPr>
            </a:pPr>
            <a:r>
              <a:t>• 5. Quality of Insights &amp; Interpretation: </a:t>
            </a:r>
            <a:r>
              <a:rPr sz="1000">
                <a:solidFill>
                  <a:srgbClr val="FFFFFF"/>
                </a:solidFill>
              </a:rPr>
              <a:t>Ability to extract non-trivial, meaningful business or clinical findings.</a:t>
            </a:r>
          </a:p>
          <a:p>
            <a:pPr>
              <a:spcAft>
                <a:spcPts val="300"/>
              </a:spcAft>
              <a:defRPr sz="1050" b="1">
                <a:solidFill>
                  <a:srgbClr val="0D9488"/>
                </a:solidFill>
              </a:defRPr>
            </a:pPr>
            <a:r>
              <a:t>• 6. Technical Understanding &amp; Implementation: </a:t>
            </a:r>
            <a:r>
              <a:rPr sz="1000">
                <a:solidFill>
                  <a:srgbClr val="FFFFFF"/>
                </a:solidFill>
              </a:rPr>
              <a:t>Defending calculated fields, table calculations, LOD expressions, and data architecture.</a:t>
            </a:r>
          </a:p>
          <a:p>
            <a:pPr>
              <a:spcAft>
                <a:spcPts val="300"/>
              </a:spcAft>
              <a:defRPr sz="1050" b="1">
                <a:solidFill>
                  <a:srgbClr val="0D9488"/>
                </a:solidFill>
              </a:defRPr>
            </a:pPr>
            <a:r>
              <a:t>• 7. Presentation Skills, Teamwork &amp; Q&amp;A: </a:t>
            </a:r>
            <a:r>
              <a:rPr sz="1000">
                <a:solidFill>
                  <a:srgbClr val="FFFFFF"/>
                </a:solidFill>
              </a:rPr>
              <a:t>Clear verbal delivery, balanced team participation, and robust defense during questions.</a:t>
            </a:r>
          </a:p>
        </p:txBody>
      </p:sp>
      <p:sp>
        <p:nvSpPr>
          <p:cNvPr id="5" name="Rounded Rectangle 4"/>
          <p:cNvSpPr/>
          <p:nvPr/>
        </p:nvSpPr>
        <p:spPr>
          <a:xfrm>
            <a:off x="731520" y="5120640"/>
            <a:ext cx="10728655" cy="1188720"/>
          </a:xfrm>
          <a:prstGeom prst="roundRect">
            <a:avLst/>
          </a:prstGeom>
          <a:solidFill>
            <a:srgbClr val="1E3A8A"/>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050" b="1">
                <a:solidFill>
                  <a:srgbClr val="EAB308"/>
                </a:solidFill>
              </a:defRPr>
            </a:pPr>
            <a:r>
              <a:t>IMPORTANT INSTRUCTION FROM FACULTY GUIDELINES:</a:t>
            </a:r>
          </a:p>
          <a:p>
            <a:pPr>
              <a:defRPr sz="1100" i="1">
                <a:solidFill>
                  <a:srgbClr val="FFFFFF"/>
                </a:solidFill>
              </a:defRPr>
            </a:pPr>
            <a:r>
              <a:t>"The project must demonstrate not only the creation of charts and dashboards, but also the ability to analyze data, interpret results, and communicate meaningful insights. All students are expected to be thoroughly prepared for the presentation and live Tableau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